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D3B2E">
              <a:alpha val="40000"/>
            </a:srgbClr>
          </a:solidFill>
          <a:ln w="12700">
            <a:solidFill>
              <a:srgbClr val="0D3B2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34747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GreenSight Lomé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7132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D-CLIC · Organisation Internationale de la Francophonie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8600" y="13716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ENERGISIGHT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228600" y="2788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8D8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Prédire la consommation énergétique &amp; les émissions CO₂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8D8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bâtiments non résidentiels par l'Intelligence Artificielle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28600" y="3767328"/>
            <a:ext cx="347472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3913632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00C896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39136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77440" y="3913632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1A2B1F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39136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2016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26280" y="3913632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1A2B1F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9136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Lomé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Lomé face à l'opacité énergétique des bâtiments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697480" cy="3429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2697480" cy="64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325880"/>
            <a:ext cx="777240" cy="77724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5C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435608"/>
            <a:ext cx="539496" cy="5394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22128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inexistantes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96112" y="2788920"/>
            <a:ext cx="1417320" cy="2743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Aucune base ouverte sur la consommation des bâtiments non résidentiels (bureaux, hôtels, écoles…) à Lomé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63824" y="1097280"/>
            <a:ext cx="2697480" cy="3429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63824" y="1097280"/>
            <a:ext cx="2697480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1325880"/>
            <a:ext cx="777240" cy="77724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B8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435608"/>
            <a:ext cx="539496" cy="539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55264" y="22128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coûteux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803904" y="2788920"/>
            <a:ext cx="1417320" cy="27432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73552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Campagnes terrain onéreuses, impossibles à répéter à grande échelle dans les villes africaines en croissance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71616" y="1097280"/>
            <a:ext cx="2697480" cy="3429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71616" y="1097280"/>
            <a:ext cx="2697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31736" y="1325880"/>
            <a:ext cx="777240" cy="77724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435608"/>
            <a:ext cx="539496" cy="5394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63056" y="22128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711696" y="2788920"/>
            <a:ext cx="14173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81344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Compagnie Énergie Électrique du Togo ne partage aucune donnée publique avec chercheurs ni collectivités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Prédire les consommations sans relevés manuels — grâce au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EnergiSight — Moteur prédictif IA pour bâtiments non résidentiels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017520" cy="3017520"/>
          </a:xfrm>
          <a:prstGeom prst="ellipse">
            <a:avLst/>
          </a:prstGeom>
          <a:solidFill>
            <a:srgbClr val="0D2E1A">
              <a:alpha val="80000"/>
            </a:srgbClr>
          </a:solidFill>
          <a:ln w="38100">
            <a:solidFill>
              <a:srgbClr val="00C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4320" y="343814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Modèle sélectionné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143000"/>
            <a:ext cx="5321808" cy="10972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143000"/>
            <a:ext cx="64008" cy="109728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1371600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B8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44475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1234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énergétique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16184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Prédiction de SiteEnergyUse(kBtu) — 8 variables structurelles uniquement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566160" y="2404872"/>
            <a:ext cx="5321808" cy="10972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66160" y="2404872"/>
            <a:ext cx="64008" cy="109728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49040" y="2633472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5C5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2706624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80560" y="2496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 CO₂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48056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Prédiction de TotalGHGEmissions — sans données de consommation préalables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566160" y="3666744"/>
            <a:ext cx="5321808" cy="10972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566160" y="3666744"/>
            <a:ext cx="64008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749040" y="3895344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00C89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3968496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80560" y="3758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fuite de données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80560" y="4142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anti-leakage strict — validation croisée 5-fold — imputation sur train only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DONNÉES · SEATTLE 2016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Laboratoire d'expérimentation — 3 376 bâtiments · 46 variables brutes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1965960" cy="13258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19659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3 376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" y="1801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Bâtiments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1097280"/>
            <a:ext cx="1965960" cy="13258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97280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1 649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05456" y="1801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Bâtiments non-résid.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97280"/>
            <a:ext cx="1965960" cy="13258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97280"/>
            <a:ext cx="1965960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 → 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81728" y="1801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Variables (brut → final)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1097280"/>
            <a:ext cx="1965960" cy="13258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1097280"/>
            <a:ext cx="1965960" cy="64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80/20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0" y="1801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Train / Test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578608"/>
            <a:ext cx="4160520" cy="2377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578608"/>
            <a:ext cx="416052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Seattle ?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27248"/>
            <a:ext cx="246888" cy="24688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5800" y="3108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data de benchmarking énergétique — relevés réels par agents municipaux</a:t>
            </a:r>
            <a:endParaRPr lang="en-US" sz="10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30168"/>
            <a:ext cx="246888" cy="246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5800" y="3611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Proxy idéal : données riches, granulaires, validées sur le terrain</a:t>
            </a:r>
            <a:endParaRPr lang="en-US" sz="10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33088"/>
            <a:ext cx="246888" cy="2468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800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Permet de développer et valider la méthode avant adaptation à Lomé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663440" y="2578608"/>
            <a:ext cx="4224528" cy="2377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663440" y="2578608"/>
            <a:ext cx="4224528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91456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retenues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4736592" y="309067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36592" y="3090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BuildingType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108192" y="309067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108192" y="3090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PrimaryPropertyType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7479792" y="309067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479792" y="3090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36592" y="35661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736592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PropertyGFATotal (log)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108192" y="35661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108192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NumberofFloors (log)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7479792" y="35661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479792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ENERGYSTARScore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4736592" y="404164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736592" y="40416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built_Age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6108192" y="404164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108192" y="40416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building_Ratio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&amp; 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Nettoyage · Transformation · Construction de variables · Anti-leakage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1600200" cy="18288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51560"/>
            <a:ext cx="160020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93852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Suppr. résidentiel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outliers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01368" y="1956816"/>
            <a:ext cx="155448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1051560"/>
            <a:ext cx="1600200" cy="18288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1051560"/>
            <a:ext cx="1600200" cy="54864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56816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29968" y="193852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 colonnes fuite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 redondantes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57016" y="1956816"/>
            <a:ext cx="155448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051560"/>
            <a:ext cx="1600200" cy="18288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05156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12464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85616" y="193852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built_Age · ratio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GFA_per_floor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12664" y="1956816"/>
            <a:ext cx="155448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051560"/>
            <a:ext cx="1600200" cy="18288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051560"/>
            <a:ext cx="1600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68112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41264" y="193852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Floors · GFA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 (y)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68312" y="1956816"/>
            <a:ext cx="155448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051560"/>
            <a:ext cx="1600200" cy="18288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051560"/>
            <a:ext cx="160020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23760" y="1572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96912" y="193852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Médiane (num)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(cat) — train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3017520"/>
            <a:ext cx="8741664" cy="1993392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017520"/>
            <a:ext cx="8741664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construites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built_Age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DataYear − YearBuilt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0599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Bâtiments anciens = isolation défaillante → plus d'émissions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27832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building_Ratio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27832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GFABuilding / GFATotal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27832" y="40599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Proportion bâtie vs totale — indicateur d'efficacité spatiale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35624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GFA_per_floor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35624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GFATotal / NumberofFloors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35624" y="40599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(Modèle Énergie) Surface par étage — lié aux systèmes CVC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COMPARAISON DES MODÈLES · CO₂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LinearRegression · RandomForest · GradientBoosting · XGBoost — R²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5120640" cy="3520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363016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520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21792" y="312724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017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1792" y="262432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14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" y="212140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116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1792" y="161848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" y="111556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005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7512" y="3076956"/>
            <a:ext cx="822960" cy="1559052"/>
          </a:xfrm>
          <a:prstGeom prst="rect">
            <a:avLst/>
          </a:prstGeom>
          <a:solidFill>
            <a:srgbClr val="7FA88F"/>
          </a:solidFill>
          <a:ln w="12700">
            <a:solidFill>
              <a:srgbClr val="7FA8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8209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A8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2912" y="2574036"/>
            <a:ext cx="822960" cy="20619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2912" y="23180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171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58312" y="2272284"/>
            <a:ext cx="822960" cy="236372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8312" y="20162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125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Boosting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53712" y="1869948"/>
            <a:ext cx="822960" cy="27660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1815084"/>
            <a:ext cx="822960" cy="54864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16139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079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</a:t>
            </a:r>
            <a:endParaRPr lang="en-US" sz="9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321308"/>
            <a:ext cx="320040" cy="32004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577840" y="1115568"/>
            <a:ext cx="3310128" cy="3520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0" y="1115568"/>
            <a:ext cx="3310128" cy="64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87568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CO₂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68756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TotalGHGEmissions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687568" y="1901952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6072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R²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498080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0.6585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687568" y="2377440"/>
            <a:ext cx="3090672" cy="402336"/>
          </a:xfrm>
          <a:prstGeom prst="rect">
            <a:avLst/>
          </a:prstGeom>
          <a:solidFill>
            <a:srgbClr val="080F0A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6072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R²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49808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0.5485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687568" y="2852928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607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CV R² Moy.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0.4441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687568" y="3328416"/>
            <a:ext cx="3090672" cy="402336"/>
          </a:xfrm>
          <a:prstGeom prst="rect">
            <a:avLst/>
          </a:prstGeom>
          <a:solidFill>
            <a:srgbClr val="080F0A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7607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CV Écart-t.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4980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0.0495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687568" y="3803904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76072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498080" y="3877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1.0349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687568" y="4407408"/>
            <a:ext cx="3090672" cy="164592"/>
          </a:xfrm>
          <a:prstGeom prst="rect">
            <a:avLst/>
          </a:prstGeom>
          <a:solidFill>
            <a:srgbClr val="FF5C5C">
              <a:alpha val="20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7568" y="4407408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XGBoost — meilleur score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 Scores des autres modèles issus de la phase de comparaison — XGBoost retenu comme modèle final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COMPARAISON DES MODÈLES · ÉNERGIE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LinearRegression · RandomForest · GradientBoosting · XGBoost — R²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5120640" cy="3520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375589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64617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21792" y="3315843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06115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1792" y="287578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660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" y="2435733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26005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1792" y="199567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8595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" y="1555623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445895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1792" y="1115568"/>
            <a:ext cx="4663440" cy="0"/>
          </a:xfrm>
          <a:prstGeom prst="line">
            <a:avLst/>
          </a:prstGeom>
          <a:noFill/>
          <a:ln w="6350">
            <a:solidFill>
              <a:srgbClr val="1C4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005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0.8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7512" y="2743772"/>
            <a:ext cx="822960" cy="1892237"/>
          </a:xfrm>
          <a:prstGeom prst="rect">
            <a:avLst/>
          </a:prstGeom>
          <a:solidFill>
            <a:srgbClr val="7FA88F"/>
          </a:solidFill>
          <a:ln w="12700">
            <a:solidFill>
              <a:srgbClr val="7FA8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4877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A8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62912" y="2215706"/>
            <a:ext cx="822960" cy="2420303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2912" y="195967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171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58312" y="1951673"/>
            <a:ext cx="822960" cy="2684336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8312" y="1695641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125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1687640"/>
            <a:ext cx="822960" cy="2948369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1632776"/>
            <a:ext cx="822960" cy="54864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1431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07992" y="4672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</a:t>
            </a:r>
            <a:endParaRPr lang="en-US" sz="9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139000"/>
            <a:ext cx="320040" cy="32004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5577840" y="1115568"/>
            <a:ext cx="3310128" cy="352044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77840" y="1115568"/>
            <a:ext cx="3310128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87568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Énergie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68756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SiteEnergyUse(kBtu)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87568" y="1901952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6072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R²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98080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0.8508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687568" y="2377440"/>
            <a:ext cx="3090672" cy="402336"/>
          </a:xfrm>
          <a:prstGeom prst="rect">
            <a:avLst/>
          </a:prstGeom>
          <a:solidFill>
            <a:srgbClr val="080F0A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6072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R²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49808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0.6659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687568" y="2852928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607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CV R² Moy.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980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0.5881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687568" y="3328416"/>
            <a:ext cx="3090672" cy="402336"/>
          </a:xfrm>
          <a:prstGeom prst="rect">
            <a:avLst/>
          </a:prstGeom>
          <a:solidFill>
            <a:srgbClr val="080F0A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607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CV Écart-t.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4980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0.2415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687568" y="3803904"/>
            <a:ext cx="3090672" cy="402336"/>
          </a:xfrm>
          <a:prstGeom prst="rect">
            <a:avLst/>
          </a:prstGeom>
          <a:solidFill>
            <a:srgbClr val="0D1F14"/>
          </a:solidFill>
          <a:ln w="6350">
            <a:solidFill>
              <a:srgbClr val="1C422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76072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498080" y="3877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1.1430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687568" y="4407408"/>
            <a:ext cx="3090672" cy="164592"/>
          </a:xfrm>
          <a:prstGeom prst="rect">
            <a:avLst/>
          </a:prstGeom>
          <a:solidFill>
            <a:srgbClr val="FFB833">
              <a:alpha val="20000"/>
            </a:srgbClr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7568" y="4407408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XGBoost — meilleur score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 Scores des autres modèles issus de la phase de comparaison — XGBoost retenu comme modèle final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 XGBoost · MODÈLE CO₂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TotalGHGEmissions — 800 estimateurs · lr=0.03 · depth=2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FFB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15568"/>
            <a:ext cx="2670048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0.6585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6032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données d'entraînement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1115568"/>
            <a:ext cx="267004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0.5485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163824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63824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données de test (20%)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115568"/>
            <a:ext cx="2670048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0.4441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71616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CV Moy.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71616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 croisée 5-fold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560320"/>
            <a:ext cx="5029200" cy="2395728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5-Fold — R²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578751"/>
            <a:ext cx="658368" cy="1304145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34100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3602547"/>
            <a:ext cx="658368" cy="1280349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5064" y="336480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70048" y="3888361"/>
            <a:ext cx="658368" cy="994535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65061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70048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3791827"/>
            <a:ext cx="658368" cy="1091069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55408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48456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3548466"/>
            <a:ext cx="658368" cy="133443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31072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26864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682045"/>
            <a:ext cx="4572000" cy="0"/>
          </a:xfrm>
          <a:prstGeom prst="line">
            <a:avLst/>
          </a:prstGeom>
          <a:noFill/>
          <a:ln w="19050">
            <a:solidFill>
              <a:srgbClr val="FFB833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913632" y="3480877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0.4441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2560320"/>
            <a:ext cx="3401568" cy="2395728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560320"/>
            <a:ext cx="3401568" cy="64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577840" y="3081528"/>
            <a:ext cx="64008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5856" y="3081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Variance CV faible (σ=0.05) → Modèle stable entre les folds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3648456"/>
            <a:ext cx="64008" cy="38404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36484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 Train/Test modéré → Légère généralisation à améliorer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4215384"/>
            <a:ext cx="6400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421538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RMSE=1.03 sur log(CO₂) → Erreur maîtrisée à l'échelle log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 XGBoost · MODÈLE ÉNERGIE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SiteEnergyUse(kBtu) — 600 estimateurs · lr=0.01 · depth=4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FFB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15568"/>
            <a:ext cx="2670048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0.8508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6032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données d'entraînement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1115568"/>
            <a:ext cx="267004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0.6659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163824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63824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données de test (20%)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1115568"/>
            <a:ext cx="2670048" cy="1325880"/>
          </a:xfrm>
          <a:prstGeom prst="rect">
            <a:avLst/>
          </a:prstGeom>
          <a:solidFill>
            <a:srgbClr val="11231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115568"/>
            <a:ext cx="2670048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0.5881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71616" y="18745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CV Moy.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71616" y="21762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 croisée 5-fold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560320"/>
            <a:ext cx="5029200" cy="2395728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5-Fold — R²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648596"/>
            <a:ext cx="658368" cy="123430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4108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3387010"/>
            <a:ext cx="658368" cy="1495886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5064" y="314926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70048" y="4663520"/>
            <a:ext cx="658368" cy="219376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44257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70048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3640268"/>
            <a:ext cx="658368" cy="124262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4025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48456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3509475"/>
            <a:ext cx="658368" cy="1373421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27173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26864" y="49011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769736"/>
            <a:ext cx="45720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913632" y="35685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0.5881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2560320"/>
            <a:ext cx="3401568" cy="2395728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560320"/>
            <a:ext cx="3401568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577840" y="3081528"/>
            <a:ext cx="64008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5856" y="3081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GFATotal (log) = feature dominante — ~42% de variance expliquée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3648456"/>
            <a:ext cx="64008" cy="38404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36484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Fold 3 atypique (R²=0.12) → Variance CV élevée (σ=0.24)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4215384"/>
            <a:ext cx="6400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421538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Modèle Énergie plus performant que CO₂ (R² test 0.67 vs 0.55)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BILAN FINAL · XGBoost vs Autres Modèles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Synthèse des 4 algorithmes testés — Sélection du modèle champion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828800" cy="384048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1115568"/>
            <a:ext cx="1371600" cy="384048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115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R² 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115568"/>
            <a:ext cx="1554480" cy="384048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115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R²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1115568"/>
            <a:ext cx="1188720" cy="384048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115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115568"/>
            <a:ext cx="1554480" cy="384048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115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499616"/>
            <a:ext cx="182880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499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84832" y="1499616"/>
            <a:ext cx="137160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499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0.31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56432" y="1499616"/>
            <a:ext cx="155448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4996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10912" y="1499616"/>
            <a:ext cx="118872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4996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9632" y="1499616"/>
            <a:ext cx="155448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4996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Insuffisant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1975104"/>
            <a:ext cx="1828800" cy="457200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1975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84832" y="1975104"/>
            <a:ext cx="1371600" cy="457200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56432" y="1975104"/>
            <a:ext cx="1554480" cy="457200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975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10912" y="1975104"/>
            <a:ext cx="1188720" cy="457200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Moyenne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1975104"/>
            <a:ext cx="1554480" cy="457200"/>
          </a:xfrm>
          <a:prstGeom prst="rect">
            <a:avLst/>
          </a:prstGeom>
          <a:solidFill>
            <a:srgbClr val="0D1F14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975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⚠️ Correct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2450592"/>
            <a:ext cx="182880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Boosting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84832" y="2450592"/>
            <a:ext cx="137160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0.47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56432" y="2450592"/>
            <a:ext cx="155448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0.61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10912" y="2450592"/>
            <a:ext cx="118872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Haute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9632" y="2450592"/>
            <a:ext cx="1554480" cy="4572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Bon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2926080"/>
            <a:ext cx="182880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84832" y="2926080"/>
            <a:ext cx="137160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456432" y="2926080"/>
            <a:ext cx="155448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0.67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10912" y="2926080"/>
            <a:ext cx="118872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10912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Haute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99632" y="2926080"/>
            <a:ext cx="155448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🏆 RETENU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" y="3310128"/>
            <a:ext cx="8631936" cy="1691640"/>
          </a:xfrm>
          <a:prstGeom prst="rect">
            <a:avLst/>
          </a:prstGeom>
          <a:solidFill>
            <a:srgbClr val="1123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" y="3310128"/>
            <a:ext cx="8631936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XGBoost retenus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92608" y="37673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207008" y="376732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578608" y="37673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041648" y="376732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276088" y="376732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510528" y="376732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699248" y="3767328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F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92608" y="41513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207008" y="4151376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578608" y="415137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041648" y="415137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276088" y="415137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510528" y="41513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699248" y="4151376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92608" y="453542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Énergie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207008" y="453542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578608" y="453542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041648" y="453542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276088" y="453542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510528" y="453542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699248" y="4535424"/>
            <a:ext cx="1225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 RIGOUREUSE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anti-leakage · Cross-validation 5-fold · Généralisation garantie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62763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115568"/>
            <a:ext cx="1627632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15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67328" y="1115568"/>
            <a:ext cx="1627632" cy="50292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115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22976" y="1115568"/>
            <a:ext cx="1627632" cy="50292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2976" y="1115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78624" y="1115568"/>
            <a:ext cx="1627632" cy="5029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115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" y="169164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Chaque fold joue le rôle de test à tour de rôle — le modèle ne voit jamais ses propres données de validation.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121408"/>
            <a:ext cx="4160520" cy="1143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121408"/>
            <a:ext cx="64008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368296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00C89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459736"/>
            <a:ext cx="438912" cy="4389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en amont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2578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Outliers et bâtiments résidentiels supprimés avant tout split train/test — aucun biais induit.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26864" y="2121408"/>
            <a:ext cx="4160520" cy="1143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26864" y="2121408"/>
            <a:ext cx="6400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368296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59736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59552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sur Train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559552" y="2578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SimpleImputer(médiane) fitté uniquement sur X_train — jamais de fuite d'information vers le test.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56032" y="3419856"/>
            <a:ext cx="4160520" cy="1143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56032" y="3419856"/>
            <a:ext cx="64008" cy="1143000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0624" y="3666744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B833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758184"/>
            <a:ext cx="438912" cy="43891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88720" y="35112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transformée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188720" y="38770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log1p(y) cohérent train/test — reconversion expm1 pour les métriques réelles.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626864" y="3419856"/>
            <a:ext cx="4160520" cy="114300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26864" y="3419856"/>
            <a:ext cx="64008" cy="114300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791456" y="3666744"/>
            <a:ext cx="640080" cy="640080"/>
          </a:xfrm>
          <a:prstGeom prst="ellipse">
            <a:avLst/>
          </a:prstGeom>
          <a:solidFill>
            <a:srgbClr val="080F0A"/>
          </a:solidFill>
          <a:ln w="25400">
            <a:solidFill>
              <a:srgbClr val="FF5C5C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58184"/>
            <a:ext cx="438912" cy="43891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59552" y="35112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relevés futurs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5559552" y="38770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Seules les variables structurelles du bâtiment sont utilisées — zéro donnée de conso dans les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4"/>
          </a:solidFill>
          <a:ln w="12700">
            <a:solidFill>
              <a:srgbClr val="0D1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&amp;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Seattle à Lomé — 3 phases vers l'industrialisation SaaS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25400">
            <a:solidFill>
              <a:srgbClr val="1C42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224028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51560"/>
            <a:ext cx="2779776" cy="1207008"/>
          </a:xfrm>
          <a:prstGeom prst="rect">
            <a:avLst/>
          </a:prstGeom>
          <a:solidFill>
            <a:srgbClr val="1123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051560"/>
            <a:ext cx="2779776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1612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161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19072" y="111556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27048"/>
            <a:ext cx="594360" cy="594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9184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 · Seattle 2016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" y="2926080"/>
            <a:ext cx="2779776" cy="20116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9718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Académique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41071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1792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testé et retenu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8620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modèles : CO₂ + Énergie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36168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anti-leakage validé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233672" y="2240280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182112" y="1051560"/>
            <a:ext cx="2779776" cy="1207008"/>
          </a:xfrm>
          <a:prstGeom prst="rect">
            <a:avLst/>
          </a:prstGeom>
          <a:solidFill>
            <a:srgbClr val="11231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182112" y="1051560"/>
            <a:ext cx="2779776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55264" y="11612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FC3F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55264" y="1161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645152" y="111556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527048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255264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suivante · Lomé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182112" y="2926080"/>
            <a:ext cx="2779776" cy="20116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73552" y="29718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3410712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47872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Collecte locale : hôtels, écoles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88620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47872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Calibration du modèle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3552" y="4361688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47872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Partenariat CEET &amp; Ministères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7159752" y="2240280"/>
            <a:ext cx="274320" cy="274320"/>
          </a:xfrm>
          <a:prstGeom prst="ellipse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6108192" y="1051560"/>
            <a:ext cx="2779776" cy="1207008"/>
          </a:xfrm>
          <a:prstGeom prst="rect">
            <a:avLst/>
          </a:prstGeom>
          <a:solidFill>
            <a:srgbClr val="112318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108192" y="1051560"/>
            <a:ext cx="2779776" cy="64008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181344" y="11612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B833">
              <a:alpha val="70000"/>
            </a:srgbClr>
          </a:solidFill>
          <a:ln w="12700">
            <a:solidFill>
              <a:srgbClr val="FFB833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6181344" y="1161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7571232" y="111556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B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1527048"/>
            <a:ext cx="594360" cy="59436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181344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SaaS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6108192" y="2926080"/>
            <a:ext cx="2779776" cy="2011680"/>
          </a:xfrm>
          <a:prstGeom prst="rect">
            <a:avLst/>
          </a:prstGeom>
          <a:solidFill>
            <a:srgbClr val="112318"/>
          </a:solidFill>
          <a:ln w="12700">
            <a:solidFill>
              <a:srgbClr val="1C4228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6199632" y="29718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</a:t>
            </a:r>
            <a:endParaRPr lang="en-US" sz="13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3410712"/>
            <a:ext cx="228600" cy="228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473952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Plateforme SaaS municipalités</a:t>
            </a:r>
            <a:endParaRPr lang="en-US" sz="10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9632" y="3886200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473952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promoteurs immobiliers</a:t>
            </a:r>
            <a:endParaRPr lang="en-US" sz="10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632" y="4361688"/>
            <a:ext cx="228600" cy="22860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473952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investissements verts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4114800" cy="4114800"/>
          </a:xfrm>
          <a:prstGeom prst="ellipse">
            <a:avLst/>
          </a:prstGeom>
          <a:solidFill>
            <a:srgbClr val="0D2E1A">
              <a:alpha val="35000"/>
            </a:srgbClr>
          </a:solidFill>
          <a:ln w="12700">
            <a:solidFill>
              <a:srgbClr val="0D2E1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3200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93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EnergiSight · GreenSight Lomé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731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D-CLIC · OIF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1097280"/>
            <a:ext cx="8686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L'IA au service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climat urbain</a:t>
            </a:r>
            <a:endParaRPr lang="en-US" sz="5000" dirty="0"/>
          </a:p>
        </p:txBody>
      </p:sp>
      <p:sp>
        <p:nvSpPr>
          <p:cNvPr id="9" name="Shape 6"/>
          <p:cNvSpPr/>
          <p:nvPr/>
        </p:nvSpPr>
        <p:spPr>
          <a:xfrm>
            <a:off x="228600" y="2670048"/>
            <a:ext cx="8686800" cy="438912"/>
          </a:xfrm>
          <a:prstGeom prst="rect">
            <a:avLst/>
          </a:prstGeom>
          <a:solidFill>
            <a:srgbClr val="112318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2670048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0662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68833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testés : Linear Reg. · Random Forest · Gradient Boosting · XGBoost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28600" y="3163824"/>
            <a:ext cx="8686800" cy="438912"/>
          </a:xfrm>
          <a:prstGeom prst="rect">
            <a:avLst/>
          </a:prstGeom>
          <a:solidFill>
            <a:srgbClr val="112318"/>
          </a:solidFill>
          <a:ln w="6350">
            <a:solidFill>
              <a:srgbClr val="FFB8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8600" y="3163824"/>
            <a:ext cx="64008" cy="438912"/>
          </a:xfrm>
          <a:prstGeom prst="rect">
            <a:avLst/>
          </a:prstGeom>
          <a:solidFill>
            <a:srgbClr val="FFB833"/>
          </a:solidFill>
          <a:ln w="12700">
            <a:solidFill>
              <a:srgbClr val="FFB8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1821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retenu — meilleurs scores R² sur les deux cibles (CO₂ et Énergie)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28600" y="3657600"/>
            <a:ext cx="8686800" cy="438912"/>
          </a:xfrm>
          <a:prstGeom prst="rect">
            <a:avLst/>
          </a:prstGeom>
          <a:solidFill>
            <a:srgbClr val="112318"/>
          </a:solidFill>
          <a:ln w="6350">
            <a:solidFill>
              <a:srgbClr val="FF5C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28600" y="3657600"/>
            <a:ext cx="64008" cy="43891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9417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367588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CO₂ : R²=0.548 test · 0.444 CV · Modèle Énergie : R²=0.666 test · 0.588 CV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28600" y="4151376"/>
            <a:ext cx="8686800" cy="438912"/>
          </a:xfrm>
          <a:prstGeom prst="rect">
            <a:avLst/>
          </a:prstGeom>
          <a:solidFill>
            <a:srgbClr val="112318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28600" y="4151376"/>
            <a:ext cx="64008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8795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416966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claire : Seattle → PoC Lomé → SaaS à impact pour l'Afrique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GreenSight Lomé · Programme D-CLIC · OIF · dclicoiftogo@gmail.com · (+228) 719 987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EnergiSight — GreenSight Lomé</dc:title>
  <dc:subject>PptxGenJS Presentation</dc:subject>
  <dc:creator>PptxGenJS</dc:creator>
  <cp:lastModifiedBy>PptxGenJS</cp:lastModifiedBy>
  <cp:revision>1</cp:revision>
  <dcterms:created xsi:type="dcterms:W3CDTF">2026-02-19T22:52:44Z</dcterms:created>
  <dcterms:modified xsi:type="dcterms:W3CDTF">2026-02-19T22:52:44Z</dcterms:modified>
</cp:coreProperties>
</file>