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déplacer la diapo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2B2773D-A999-48B8-8C33-129027A29073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556CE9-6659-4B9E-8277-F01B90344B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6C181A9-CB51-4A07-99A7-96D0B5179A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BADC4D-5ED6-4331-A83B-1F40F3FC52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14AC45-E385-4E05-BE81-7D4269D9C2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3926C6-33B6-4DA3-A733-F9CAC17E25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84410A-A5A9-4498-BC17-8D4DC3F20E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F7A392-74B2-4489-BCF9-416F18A95A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9B9A23-CF57-4D93-A6A6-CFA0E860F8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FA7EAC-F745-4F9F-B308-E3E1C0025A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E6EBF7-B2D5-4488-A624-F40C7EB80B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F799DF-3A6C-495E-8AE5-FBECA97014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F362C8-2220-446B-9B4F-E796F70F7A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054F1B-A205-4CF5-8CDB-64A12334E6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texte-titre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9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9.png"/><Relationship Id="rId3" Type="http://schemas.openxmlformats.org/officeDocument/2006/relationships/image" Target="../media/image9.png"/><Relationship Id="rId4" Type="http://schemas.openxmlformats.org/officeDocument/2006/relationships/image" Target="../media/image9.png"/><Relationship Id="rId5" Type="http://schemas.openxmlformats.org/officeDocument/2006/relationships/image" Target="../media/image14.png"/><Relationship Id="rId6" Type="http://schemas.openxmlformats.org/officeDocument/2006/relationships/image" Target="../media/image9.png"/><Relationship Id="rId7" Type="http://schemas.openxmlformats.org/officeDocument/2006/relationships/image" Target="../media/image9.png"/><Relationship Id="rId8" Type="http://schemas.openxmlformats.org/officeDocument/2006/relationships/image" Target="../media/image9.png"/><Relationship Id="rId9" Type="http://schemas.openxmlformats.org/officeDocument/2006/relationships/image" Target="../media/image15.png"/><Relationship Id="rId10" Type="http://schemas.openxmlformats.org/officeDocument/2006/relationships/image" Target="../media/image9.png"/><Relationship Id="rId11" Type="http://schemas.openxmlformats.org/officeDocument/2006/relationships/image" Target="../media/image9.png"/><Relationship Id="rId12" Type="http://schemas.openxmlformats.org/officeDocument/2006/relationships/image" Target="../media/image9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6.png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1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"/>
          <p:cNvPicPr/>
          <p:nvPr/>
        </p:nvPicPr>
        <p:blipFill>
          <a:blip r:embed="rId1"/>
          <a:stretch/>
        </p:blipFill>
        <p:spPr>
          <a:xfrm>
            <a:off x="0" y="-7560"/>
            <a:ext cx="9144000" cy="515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:wheel spokes="1"/>
      </p:transition>
    </mc:Choice>
    <mc:Fallback>
      <p:transition spd="slow">
        <p:wheel spokes="1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7"/>
          <p:cNvSpPr/>
          <p:nvPr/>
        </p:nvSpPr>
        <p:spPr>
          <a:xfrm>
            <a:off x="6217920" y="-731520"/>
            <a:ext cx="3840120" cy="3840120"/>
          </a:xfrm>
          <a:prstGeom prst="ellipse">
            <a:avLst/>
          </a:prstGeom>
          <a:solidFill>
            <a:srgbClr val="0d3b2e">
              <a:alpha val="40000"/>
            </a:srgbClr>
          </a:solidFill>
          <a:ln w="12700">
            <a:solidFill>
              <a:srgbClr val="0d3b2e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53"/>
          <p:cNvSpPr/>
          <p:nvPr/>
        </p:nvSpPr>
        <p:spPr>
          <a:xfrm>
            <a:off x="7498080" y="2743200"/>
            <a:ext cx="2285640" cy="2285640"/>
          </a:xfrm>
          <a:prstGeom prst="ellipse">
            <a:avLst/>
          </a:prstGeom>
          <a:solidFill>
            <a:srgbClr val="00c896">
              <a:alpha val="18000"/>
            </a:srgbClr>
          </a:solidFill>
          <a:ln w="12700">
            <a:solidFill>
              <a:srgbClr val="00c896">
                <a:alpha val="1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56"/>
          <p:cNvSpPr/>
          <p:nvPr/>
        </p:nvSpPr>
        <p:spPr>
          <a:xfrm>
            <a:off x="-457200" y="3474720"/>
            <a:ext cx="1828440" cy="1828440"/>
          </a:xfrm>
          <a:prstGeom prst="ellipse">
            <a:avLst/>
          </a:prstGeom>
          <a:solidFill>
            <a:srgbClr val="00c896">
              <a:alpha val="12000"/>
            </a:srgbClr>
          </a:solidFill>
          <a:ln w="12700">
            <a:solidFill>
              <a:srgbClr val="00c896">
                <a:alpha val="1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57"/>
          <p:cNvSpPr/>
          <p:nvPr/>
        </p:nvSpPr>
        <p:spPr>
          <a:xfrm>
            <a:off x="0" y="0"/>
            <a:ext cx="82080" cy="51433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Image 12" descr="preencoded.png"/>
          <p:cNvPicPr/>
          <p:nvPr/>
        </p:nvPicPr>
        <p:blipFill>
          <a:blip r:embed="rId1"/>
          <a:stretch/>
        </p:blipFill>
        <p:spPr>
          <a:xfrm>
            <a:off x="255960" y="347400"/>
            <a:ext cx="63972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Text 1"/>
          <p:cNvSpPr/>
          <p:nvPr/>
        </p:nvSpPr>
        <p:spPr>
          <a:xfrm>
            <a:off x="987480" y="38412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EnergiSight Lomé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4"/>
          <p:cNvSpPr/>
          <p:nvPr/>
        </p:nvSpPr>
        <p:spPr>
          <a:xfrm>
            <a:off x="987480" y="713160"/>
            <a:ext cx="5943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Programme D-CLIC · Organisation Internationale de la Francophonie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55"/>
          <p:cNvSpPr/>
          <p:nvPr/>
        </p:nvSpPr>
        <p:spPr>
          <a:xfrm>
            <a:off x="228600" y="1371600"/>
            <a:ext cx="86864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800" b="1" u="none" spc="601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ENERGISIGHT</a:t>
            </a:r>
            <a:endParaRPr lang="fr-FR" sz="7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78"/>
          <p:cNvSpPr/>
          <p:nvPr/>
        </p:nvSpPr>
        <p:spPr>
          <a:xfrm>
            <a:off x="228600" y="2788920"/>
            <a:ext cx="64004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a8d8b5"/>
                </a:solidFill>
                <a:effectLst/>
                <a:uFillTx/>
                <a:latin typeface="Calibri Light"/>
                <a:ea typeface="Calibri Light"/>
              </a:rPr>
              <a:t>Prédire la consommation énergétique &amp; les émissions CO₂</a:t>
            </a:r>
            <a:endParaRPr lang="fr-F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a8d8b5"/>
                </a:solidFill>
                <a:effectLst/>
                <a:uFillTx/>
                <a:latin typeface="Calibri Light"/>
                <a:ea typeface="Calibri Light"/>
              </a:rPr>
              <a:t>des bâtiments non résidentiels par l'Intelligence Artificielle</a:t>
            </a:r>
            <a:endParaRPr lang="fr-F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8"/>
          <p:cNvSpPr/>
          <p:nvPr/>
        </p:nvSpPr>
        <p:spPr>
          <a:xfrm>
            <a:off x="228600" y="3767400"/>
            <a:ext cx="3474360" cy="363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59"/>
          <p:cNvSpPr/>
          <p:nvPr/>
        </p:nvSpPr>
        <p:spPr>
          <a:xfrm>
            <a:off x="228600" y="3913560"/>
            <a:ext cx="1965600" cy="529920"/>
          </a:xfrm>
          <a:prstGeom prst="roundRect">
            <a:avLst>
              <a:gd name="adj" fmla="val 13793"/>
            </a:avLst>
          </a:prstGeom>
          <a:solidFill>
            <a:srgbClr val="00c896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9"/>
          <p:cNvSpPr/>
          <p:nvPr/>
        </p:nvSpPr>
        <p:spPr>
          <a:xfrm>
            <a:off x="228600" y="3913560"/>
            <a:ext cx="19656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XGBoost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60"/>
          <p:cNvSpPr/>
          <p:nvPr/>
        </p:nvSpPr>
        <p:spPr>
          <a:xfrm>
            <a:off x="2377440" y="3913560"/>
            <a:ext cx="1965600" cy="529920"/>
          </a:xfrm>
          <a:prstGeom prst="roundRect">
            <a:avLst>
              <a:gd name="adj" fmla="val 13793"/>
            </a:avLst>
          </a:prstGeom>
          <a:solidFill>
            <a:srgbClr val="1a2b1f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80"/>
          <p:cNvSpPr/>
          <p:nvPr/>
        </p:nvSpPr>
        <p:spPr>
          <a:xfrm>
            <a:off x="2377440" y="3913560"/>
            <a:ext cx="19656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Seattle 2016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61"/>
          <p:cNvSpPr/>
          <p:nvPr/>
        </p:nvSpPr>
        <p:spPr>
          <a:xfrm>
            <a:off x="4526280" y="3913560"/>
            <a:ext cx="1965600" cy="529920"/>
          </a:xfrm>
          <a:prstGeom prst="roundRect">
            <a:avLst>
              <a:gd name="adj" fmla="val 13793"/>
            </a:avLst>
          </a:prstGeom>
          <a:solidFill>
            <a:srgbClr val="1a2b1f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1"/>
          <p:cNvSpPr/>
          <p:nvPr/>
        </p:nvSpPr>
        <p:spPr>
          <a:xfrm>
            <a:off x="4526280" y="3913560"/>
            <a:ext cx="19656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Roadmap Lomé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pull dir="d"/>
      </p:transition>
    </mc:Choice>
    <mc:Fallback>
      <p:transition spd="slow">
        <p:pull dir="d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LE PROBLÈME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c896"/>
                </a:solidFill>
                <a:effectLst/>
                <a:uFillTx/>
                <a:latin typeface="Calibri Light"/>
                <a:ea typeface="Calibri Light"/>
              </a:rPr>
              <a:t>Lomé face à l'opacité énergétique des bâtiments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4"/>
          <p:cNvSpPr/>
          <p:nvPr/>
        </p:nvSpPr>
        <p:spPr>
          <a:xfrm>
            <a:off x="255960" y="1097280"/>
            <a:ext cx="2697120" cy="34286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52280" dir="8100000" dist="50402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255960" y="1097280"/>
            <a:ext cx="2697120" cy="6372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1216080" y="1325880"/>
            <a:ext cx="776880" cy="77688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0" descr="preencoded.png"/>
          <p:cNvPicPr/>
          <p:nvPr/>
        </p:nvPicPr>
        <p:blipFill>
          <a:blip r:embed="rId1"/>
          <a:stretch/>
        </p:blipFill>
        <p:spPr>
          <a:xfrm>
            <a:off x="1334880" y="1435680"/>
            <a:ext cx="539280" cy="53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7"/>
          <p:cNvSpPr/>
          <p:nvPr/>
        </p:nvSpPr>
        <p:spPr>
          <a:xfrm>
            <a:off x="347400" y="2212920"/>
            <a:ext cx="2514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Données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inexistantes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8"/>
          <p:cNvSpPr/>
          <p:nvPr/>
        </p:nvSpPr>
        <p:spPr>
          <a:xfrm>
            <a:off x="896040" y="2788920"/>
            <a:ext cx="1416960" cy="2700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365760" y="2880360"/>
            <a:ext cx="24868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Aucune base ouverte sur la consommation des bâtiments non résidentiels (bureaux, hôtels, écoles…) à Lomé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3163680" y="1097280"/>
            <a:ext cx="2697120" cy="34286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52280" dir="8100000" dist="50402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1"/>
          <p:cNvSpPr/>
          <p:nvPr/>
        </p:nvSpPr>
        <p:spPr>
          <a:xfrm>
            <a:off x="3163680" y="1097280"/>
            <a:ext cx="2697120" cy="6372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2"/>
          <p:cNvSpPr/>
          <p:nvPr/>
        </p:nvSpPr>
        <p:spPr>
          <a:xfrm>
            <a:off x="4123800" y="1325880"/>
            <a:ext cx="776880" cy="77688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" name="Image 1" descr="preencoded.png"/>
          <p:cNvPicPr/>
          <p:nvPr/>
        </p:nvPicPr>
        <p:blipFill>
          <a:blip r:embed="rId2"/>
          <a:stretch/>
        </p:blipFill>
        <p:spPr>
          <a:xfrm>
            <a:off x="4242960" y="1435680"/>
            <a:ext cx="539280" cy="53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Text 13"/>
          <p:cNvSpPr/>
          <p:nvPr/>
        </p:nvSpPr>
        <p:spPr>
          <a:xfrm>
            <a:off x="3255120" y="2212920"/>
            <a:ext cx="2514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Relevés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coûteux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4"/>
          <p:cNvSpPr/>
          <p:nvPr/>
        </p:nvSpPr>
        <p:spPr>
          <a:xfrm>
            <a:off x="3803760" y="2788920"/>
            <a:ext cx="1416960" cy="2700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3273480" y="2880360"/>
            <a:ext cx="24868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Campagnes terrain onéreuses, impossibles à répéter à grande échelle dans les villes africaines en croissance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6"/>
          <p:cNvSpPr/>
          <p:nvPr/>
        </p:nvSpPr>
        <p:spPr>
          <a:xfrm>
            <a:off x="6071760" y="1097280"/>
            <a:ext cx="2697120" cy="34286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52280" dir="8100000" dist="50402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7"/>
          <p:cNvSpPr/>
          <p:nvPr/>
        </p:nvSpPr>
        <p:spPr>
          <a:xfrm>
            <a:off x="6071760" y="1097280"/>
            <a:ext cx="2697120" cy="63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8"/>
          <p:cNvSpPr/>
          <p:nvPr/>
        </p:nvSpPr>
        <p:spPr>
          <a:xfrm>
            <a:off x="7031880" y="1325880"/>
            <a:ext cx="776880" cy="77688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2" descr="preencoded.png"/>
          <p:cNvPicPr/>
          <p:nvPr/>
        </p:nvPicPr>
        <p:blipFill>
          <a:blip r:embed="rId3"/>
          <a:stretch/>
        </p:blipFill>
        <p:spPr>
          <a:xfrm>
            <a:off x="7150680" y="1435680"/>
            <a:ext cx="539280" cy="53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19"/>
          <p:cNvSpPr/>
          <p:nvPr/>
        </p:nvSpPr>
        <p:spPr>
          <a:xfrm>
            <a:off x="6163200" y="2212920"/>
            <a:ext cx="2514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CEET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fermée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0"/>
          <p:cNvSpPr/>
          <p:nvPr/>
        </p:nvSpPr>
        <p:spPr>
          <a:xfrm>
            <a:off x="6711840" y="2788920"/>
            <a:ext cx="1416960" cy="270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1"/>
          <p:cNvSpPr/>
          <p:nvPr/>
        </p:nvSpPr>
        <p:spPr>
          <a:xfrm>
            <a:off x="6181200" y="2880360"/>
            <a:ext cx="24868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La Compagnie Énergie Électrique du Togo ne partage aucune donnée publique avec chercheurs ni collectivités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2"/>
          <p:cNvSpPr/>
          <p:nvPr/>
        </p:nvSpPr>
        <p:spPr>
          <a:xfrm>
            <a:off x="255960" y="4681800"/>
            <a:ext cx="8631720" cy="34704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3"/>
          <p:cNvSpPr/>
          <p:nvPr/>
        </p:nvSpPr>
        <p:spPr>
          <a:xfrm>
            <a:off x="255960" y="4681800"/>
            <a:ext cx="86317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→  Prédire les consommations sans relevés manuels — grâce au Machine Learning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blinds dir="vert"/>
      </p:transition>
    </mc:Choice>
    <mc:Fallback>
      <p:transition spd="slow">
        <p:blinds dir="vert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NOTRE SOLUTION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c896"/>
                </a:solidFill>
                <a:effectLst/>
                <a:uFillTx/>
                <a:latin typeface="Calibri Light"/>
                <a:ea typeface="Calibri Light"/>
              </a:rPr>
              <a:t>EnergiSight — Moteur prédictif IA pour bâtiments non résidentiels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74320" y="1143000"/>
            <a:ext cx="3017160" cy="3017160"/>
          </a:xfrm>
          <a:prstGeom prst="ellipse">
            <a:avLst/>
          </a:prstGeom>
          <a:solidFill>
            <a:srgbClr val="0d2e1a">
              <a:alpha val="80000"/>
            </a:srgbClr>
          </a:solidFill>
          <a:ln w="381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" name="Image 0" descr="preencoded.png"/>
          <p:cNvPicPr/>
          <p:nvPr/>
        </p:nvPicPr>
        <p:blipFill>
          <a:blip r:embed="rId1"/>
          <a:stretch/>
        </p:blipFill>
        <p:spPr>
          <a:xfrm>
            <a:off x="1097280" y="1691640"/>
            <a:ext cx="1371240" cy="137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Text 5"/>
          <p:cNvSpPr/>
          <p:nvPr/>
        </p:nvSpPr>
        <p:spPr>
          <a:xfrm>
            <a:off x="274320" y="3063240"/>
            <a:ext cx="3017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XGBoost</a:t>
            </a:r>
            <a:endParaRPr lang="fr-F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274320" y="3438000"/>
            <a:ext cx="3017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Modèle sélectionné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566160" y="1143000"/>
            <a:ext cx="5321520" cy="10969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3566160" y="1143000"/>
            <a:ext cx="63720" cy="109692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3749040" y="1371600"/>
            <a:ext cx="639720" cy="63972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1" descr="preencoded.png"/>
          <p:cNvPicPr/>
          <p:nvPr/>
        </p:nvPicPr>
        <p:blipFill>
          <a:blip r:embed="rId2"/>
          <a:stretch/>
        </p:blipFill>
        <p:spPr>
          <a:xfrm>
            <a:off x="3858840" y="144468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10"/>
          <p:cNvSpPr/>
          <p:nvPr/>
        </p:nvSpPr>
        <p:spPr>
          <a:xfrm>
            <a:off x="4480560" y="123444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Consommation énergétique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1"/>
          <p:cNvSpPr/>
          <p:nvPr/>
        </p:nvSpPr>
        <p:spPr>
          <a:xfrm>
            <a:off x="4480560" y="16185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Prédiction de SiteEnergyUse(kBtu) — 8 variables structurelles uniquement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2"/>
          <p:cNvSpPr/>
          <p:nvPr/>
        </p:nvSpPr>
        <p:spPr>
          <a:xfrm>
            <a:off x="3566160" y="2404800"/>
            <a:ext cx="5321520" cy="10969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3"/>
          <p:cNvSpPr/>
          <p:nvPr/>
        </p:nvSpPr>
        <p:spPr>
          <a:xfrm>
            <a:off x="3566160" y="2404800"/>
            <a:ext cx="63720" cy="109692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4"/>
          <p:cNvSpPr/>
          <p:nvPr/>
        </p:nvSpPr>
        <p:spPr>
          <a:xfrm>
            <a:off x="3749040" y="2633400"/>
            <a:ext cx="639720" cy="63972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2" descr="preencoded.png"/>
          <p:cNvPicPr/>
          <p:nvPr/>
        </p:nvPicPr>
        <p:blipFill>
          <a:blip r:embed="rId3"/>
          <a:stretch/>
        </p:blipFill>
        <p:spPr>
          <a:xfrm>
            <a:off x="3858840" y="270648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15"/>
          <p:cNvSpPr/>
          <p:nvPr/>
        </p:nvSpPr>
        <p:spPr>
          <a:xfrm>
            <a:off x="4480560" y="249624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Émissions CO₂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4480560" y="28803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Prédiction de TotalGHGEmissions — sans données de consommation préalables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3566160" y="3666600"/>
            <a:ext cx="5321520" cy="10969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3566160" y="3666600"/>
            <a:ext cx="63720" cy="10969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3749040" y="3895200"/>
            <a:ext cx="639720" cy="63972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" name="Image 3" descr="preencoded.png"/>
          <p:cNvPicPr/>
          <p:nvPr/>
        </p:nvPicPr>
        <p:blipFill>
          <a:blip r:embed="rId4"/>
          <a:stretch/>
        </p:blipFill>
        <p:spPr>
          <a:xfrm>
            <a:off x="3858840" y="3968640"/>
            <a:ext cx="42012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 20"/>
          <p:cNvSpPr/>
          <p:nvPr/>
        </p:nvSpPr>
        <p:spPr>
          <a:xfrm>
            <a:off x="4480560" y="375804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Zéro fuite de données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1"/>
          <p:cNvSpPr/>
          <p:nvPr/>
        </p:nvSpPr>
        <p:spPr>
          <a:xfrm>
            <a:off x="4480560" y="41421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Pipeline anti-leakage strict — validation croisée 5-fold — imputation sur train only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comb dir="horz"/>
      </p:transition>
    </mc:Choice>
    <mc:Fallback>
      <p:transition spd="slow">
        <p:comb dir="horz"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DONNÉES · SEATTLE 2016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c896"/>
                </a:solidFill>
                <a:effectLst/>
                <a:uFillTx/>
                <a:latin typeface="Calibri Light"/>
                <a:ea typeface="Calibri Light"/>
              </a:rPr>
              <a:t>Laboratoire d'expérimentation — 3 376 bâtiments · 46 variables brutes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255960" y="1097280"/>
            <a:ext cx="1965600" cy="13255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5"/>
          <p:cNvSpPr/>
          <p:nvPr/>
        </p:nvSpPr>
        <p:spPr>
          <a:xfrm>
            <a:off x="255960" y="1097280"/>
            <a:ext cx="1965600" cy="63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255960" y="1188720"/>
            <a:ext cx="1965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00c896"/>
                </a:solidFill>
                <a:effectLst/>
                <a:uFillTx/>
                <a:latin typeface="Arial Black"/>
                <a:ea typeface="Arial Black"/>
              </a:rPr>
              <a:t>3 376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7"/>
          <p:cNvSpPr/>
          <p:nvPr/>
        </p:nvSpPr>
        <p:spPr>
          <a:xfrm>
            <a:off x="329040" y="1801440"/>
            <a:ext cx="1819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Bâtiments total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8"/>
          <p:cNvSpPr/>
          <p:nvPr/>
        </p:nvSpPr>
        <p:spPr>
          <a:xfrm>
            <a:off x="2432160" y="1097280"/>
            <a:ext cx="1965600" cy="13255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9"/>
          <p:cNvSpPr/>
          <p:nvPr/>
        </p:nvSpPr>
        <p:spPr>
          <a:xfrm>
            <a:off x="2432160" y="1097280"/>
            <a:ext cx="1965600" cy="63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0"/>
          <p:cNvSpPr/>
          <p:nvPr/>
        </p:nvSpPr>
        <p:spPr>
          <a:xfrm>
            <a:off x="2432160" y="1188720"/>
            <a:ext cx="1965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4fc3f7"/>
                </a:solidFill>
                <a:effectLst/>
                <a:uFillTx/>
                <a:latin typeface="Arial Black"/>
                <a:ea typeface="Arial Black"/>
              </a:rPr>
              <a:t>1 649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1"/>
          <p:cNvSpPr/>
          <p:nvPr/>
        </p:nvSpPr>
        <p:spPr>
          <a:xfrm>
            <a:off x="2505600" y="1801440"/>
            <a:ext cx="1819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Bâtiments non-résid.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2"/>
          <p:cNvSpPr/>
          <p:nvPr/>
        </p:nvSpPr>
        <p:spPr>
          <a:xfrm>
            <a:off x="4608720" y="1097280"/>
            <a:ext cx="1965600" cy="13255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3"/>
          <p:cNvSpPr/>
          <p:nvPr/>
        </p:nvSpPr>
        <p:spPr>
          <a:xfrm>
            <a:off x="4608720" y="1097280"/>
            <a:ext cx="1965600" cy="6372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4"/>
          <p:cNvSpPr/>
          <p:nvPr/>
        </p:nvSpPr>
        <p:spPr>
          <a:xfrm>
            <a:off x="4608720" y="1188720"/>
            <a:ext cx="1965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ffb833"/>
                </a:solidFill>
                <a:effectLst/>
                <a:uFillTx/>
                <a:latin typeface="Arial Black"/>
                <a:ea typeface="Arial Black"/>
              </a:rPr>
              <a:t>46 → 8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5"/>
          <p:cNvSpPr/>
          <p:nvPr/>
        </p:nvSpPr>
        <p:spPr>
          <a:xfrm>
            <a:off x="4681800" y="1801440"/>
            <a:ext cx="1819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Variables (brut → final)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6"/>
          <p:cNvSpPr/>
          <p:nvPr/>
        </p:nvSpPr>
        <p:spPr>
          <a:xfrm>
            <a:off x="6784920" y="1097280"/>
            <a:ext cx="1965600" cy="13255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7"/>
          <p:cNvSpPr/>
          <p:nvPr/>
        </p:nvSpPr>
        <p:spPr>
          <a:xfrm>
            <a:off x="6784920" y="1097280"/>
            <a:ext cx="1965600" cy="6372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8"/>
          <p:cNvSpPr/>
          <p:nvPr/>
        </p:nvSpPr>
        <p:spPr>
          <a:xfrm>
            <a:off x="6784920" y="1188720"/>
            <a:ext cx="1965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ff5c5c"/>
                </a:solidFill>
                <a:effectLst/>
                <a:uFillTx/>
                <a:latin typeface="Arial Black"/>
                <a:ea typeface="Arial Black"/>
              </a:rPr>
              <a:t>80/20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9"/>
          <p:cNvSpPr/>
          <p:nvPr/>
        </p:nvSpPr>
        <p:spPr>
          <a:xfrm>
            <a:off x="6858000" y="1801440"/>
            <a:ext cx="1819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Split Train / Test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0"/>
          <p:cNvSpPr/>
          <p:nvPr/>
        </p:nvSpPr>
        <p:spPr>
          <a:xfrm>
            <a:off x="255960" y="2578680"/>
            <a:ext cx="4160160" cy="237708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1"/>
          <p:cNvSpPr/>
          <p:nvPr/>
        </p:nvSpPr>
        <p:spPr>
          <a:xfrm>
            <a:off x="255960" y="2578680"/>
            <a:ext cx="4160160" cy="63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2"/>
          <p:cNvSpPr/>
          <p:nvPr/>
        </p:nvSpPr>
        <p:spPr>
          <a:xfrm>
            <a:off x="384120" y="267912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Pourquoi Seattle ?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preencoded.png"/>
          <p:cNvPicPr/>
          <p:nvPr/>
        </p:nvPicPr>
        <p:blipFill>
          <a:blip r:embed="rId1"/>
          <a:stretch/>
        </p:blipFill>
        <p:spPr>
          <a:xfrm>
            <a:off x="365760" y="3127320"/>
            <a:ext cx="246600" cy="24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23"/>
          <p:cNvSpPr/>
          <p:nvPr/>
        </p:nvSpPr>
        <p:spPr>
          <a:xfrm>
            <a:off x="685800" y="3108960"/>
            <a:ext cx="36115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Open data de benchmarking énergétique — relevés réels par agents municipaux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" name="Image 1" descr="preencoded.png"/>
          <p:cNvPicPr/>
          <p:nvPr/>
        </p:nvPicPr>
        <p:blipFill>
          <a:blip r:embed="rId2"/>
          <a:stretch/>
        </p:blipFill>
        <p:spPr>
          <a:xfrm>
            <a:off x="365760" y="3630240"/>
            <a:ext cx="246600" cy="24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 24"/>
          <p:cNvSpPr/>
          <p:nvPr/>
        </p:nvSpPr>
        <p:spPr>
          <a:xfrm>
            <a:off x="685800" y="3611880"/>
            <a:ext cx="36115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Proxy idéal : données riches, granulaires, validées sur le terrain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" name="Image 2" descr="preencoded.png"/>
          <p:cNvPicPr/>
          <p:nvPr/>
        </p:nvPicPr>
        <p:blipFill>
          <a:blip r:embed="rId3"/>
          <a:stretch/>
        </p:blipFill>
        <p:spPr>
          <a:xfrm>
            <a:off x="365760" y="4133160"/>
            <a:ext cx="246600" cy="24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 25"/>
          <p:cNvSpPr/>
          <p:nvPr/>
        </p:nvSpPr>
        <p:spPr>
          <a:xfrm>
            <a:off x="685800" y="4114800"/>
            <a:ext cx="36115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Permet de développer et valider la méthode avant adaptation à Lomé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6"/>
          <p:cNvSpPr/>
          <p:nvPr/>
        </p:nvSpPr>
        <p:spPr>
          <a:xfrm>
            <a:off x="4663440" y="2578680"/>
            <a:ext cx="4224240" cy="237708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7"/>
          <p:cNvSpPr/>
          <p:nvPr/>
        </p:nvSpPr>
        <p:spPr>
          <a:xfrm>
            <a:off x="4663440" y="2578680"/>
            <a:ext cx="4224240" cy="63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8"/>
          <p:cNvSpPr/>
          <p:nvPr/>
        </p:nvSpPr>
        <p:spPr>
          <a:xfrm>
            <a:off x="4791600" y="2679120"/>
            <a:ext cx="3931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 Features retenues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9"/>
          <p:cNvSpPr/>
          <p:nvPr/>
        </p:nvSpPr>
        <p:spPr>
          <a:xfrm>
            <a:off x="4736520" y="3090600"/>
            <a:ext cx="1279800" cy="347040"/>
          </a:xfrm>
          <a:prstGeom prst="roundRect">
            <a:avLst>
              <a:gd name="adj" fmla="val 15789"/>
            </a:avLst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0"/>
          <p:cNvSpPr/>
          <p:nvPr/>
        </p:nvSpPr>
        <p:spPr>
          <a:xfrm>
            <a:off x="4736520" y="3090600"/>
            <a:ext cx="1279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BuildingType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31"/>
          <p:cNvSpPr/>
          <p:nvPr/>
        </p:nvSpPr>
        <p:spPr>
          <a:xfrm>
            <a:off x="6108120" y="3090600"/>
            <a:ext cx="1279800" cy="347040"/>
          </a:xfrm>
          <a:prstGeom prst="roundRect">
            <a:avLst>
              <a:gd name="adj" fmla="val 15789"/>
            </a:avLst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2"/>
          <p:cNvSpPr/>
          <p:nvPr/>
        </p:nvSpPr>
        <p:spPr>
          <a:xfrm>
            <a:off x="6108120" y="3090600"/>
            <a:ext cx="1279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PrimaryPropertyType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3"/>
          <p:cNvSpPr/>
          <p:nvPr/>
        </p:nvSpPr>
        <p:spPr>
          <a:xfrm>
            <a:off x="7479720" y="3090600"/>
            <a:ext cx="1279800" cy="347040"/>
          </a:xfrm>
          <a:prstGeom prst="roundRect">
            <a:avLst>
              <a:gd name="adj" fmla="val 15789"/>
            </a:avLst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4"/>
          <p:cNvSpPr/>
          <p:nvPr/>
        </p:nvSpPr>
        <p:spPr>
          <a:xfrm>
            <a:off x="7479720" y="3090600"/>
            <a:ext cx="1279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Neighborhood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35"/>
          <p:cNvSpPr/>
          <p:nvPr/>
        </p:nvSpPr>
        <p:spPr>
          <a:xfrm>
            <a:off x="4736520" y="3566160"/>
            <a:ext cx="1279800" cy="347040"/>
          </a:xfrm>
          <a:prstGeom prst="roundRect">
            <a:avLst>
              <a:gd name="adj" fmla="val 15789"/>
            </a:avLst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6"/>
          <p:cNvSpPr/>
          <p:nvPr/>
        </p:nvSpPr>
        <p:spPr>
          <a:xfrm>
            <a:off x="4736520" y="3566160"/>
            <a:ext cx="1279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PropertyGFATotal (log)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37"/>
          <p:cNvSpPr/>
          <p:nvPr/>
        </p:nvSpPr>
        <p:spPr>
          <a:xfrm>
            <a:off x="6096600" y="3566160"/>
            <a:ext cx="1279800" cy="347040"/>
          </a:xfrm>
          <a:prstGeom prst="roundRect">
            <a:avLst>
              <a:gd name="adj" fmla="val 15789"/>
            </a:avLst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8"/>
          <p:cNvSpPr/>
          <p:nvPr/>
        </p:nvSpPr>
        <p:spPr>
          <a:xfrm>
            <a:off x="6108120" y="3566160"/>
            <a:ext cx="1279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NumberofFloors (log)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9"/>
          <p:cNvSpPr/>
          <p:nvPr/>
        </p:nvSpPr>
        <p:spPr>
          <a:xfrm>
            <a:off x="7479720" y="3566160"/>
            <a:ext cx="1279800" cy="347040"/>
          </a:xfrm>
          <a:prstGeom prst="roundRect">
            <a:avLst>
              <a:gd name="adj" fmla="val 15789"/>
            </a:avLst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0"/>
          <p:cNvSpPr/>
          <p:nvPr/>
        </p:nvSpPr>
        <p:spPr>
          <a:xfrm>
            <a:off x="7479720" y="3566160"/>
            <a:ext cx="1279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ENERGYSTARScore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41"/>
          <p:cNvSpPr/>
          <p:nvPr/>
        </p:nvSpPr>
        <p:spPr>
          <a:xfrm>
            <a:off x="4736520" y="4041720"/>
            <a:ext cx="1279800" cy="347040"/>
          </a:xfrm>
          <a:prstGeom prst="roundRect">
            <a:avLst>
              <a:gd name="adj" fmla="val 15789"/>
            </a:avLst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2"/>
          <p:cNvSpPr/>
          <p:nvPr/>
        </p:nvSpPr>
        <p:spPr>
          <a:xfrm>
            <a:off x="4736520" y="4041720"/>
            <a:ext cx="1279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built_Age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3"/>
          <p:cNvSpPr/>
          <p:nvPr/>
        </p:nvSpPr>
        <p:spPr>
          <a:xfrm>
            <a:off x="6108120" y="4041720"/>
            <a:ext cx="1279800" cy="347040"/>
          </a:xfrm>
          <a:prstGeom prst="roundRect">
            <a:avLst>
              <a:gd name="adj" fmla="val 15789"/>
            </a:avLst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4"/>
          <p:cNvSpPr/>
          <p:nvPr/>
        </p:nvSpPr>
        <p:spPr>
          <a:xfrm>
            <a:off x="6108120" y="4041720"/>
            <a:ext cx="1279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building_Ratio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strips dir="ld"/>
      </p:transition>
    </mc:Choice>
    <mc:Fallback>
      <p:transition spd="slow">
        <p:strips dir="ld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PIPELINE &amp; FEATURE ENGINEERING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c896"/>
                </a:solidFill>
                <a:effectLst/>
                <a:uFillTx/>
                <a:latin typeface="Calibri Light"/>
                <a:ea typeface="Calibri Light"/>
              </a:rPr>
              <a:t>Nettoyage · Transformation · Construction de variables · Anti-leakage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"/>
          <p:cNvSpPr/>
          <p:nvPr/>
        </p:nvSpPr>
        <p:spPr>
          <a:xfrm>
            <a:off x="201240" y="1051560"/>
            <a:ext cx="1599840" cy="18284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5"/>
          <p:cNvSpPr/>
          <p:nvPr/>
        </p:nvSpPr>
        <p:spPr>
          <a:xfrm>
            <a:off x="201240" y="1051560"/>
            <a:ext cx="1599840" cy="5436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201240" y="109728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f5c5c"/>
                </a:solidFill>
                <a:effectLst/>
                <a:uFillTx/>
                <a:latin typeface="Arial Black"/>
                <a:ea typeface="Arial Black"/>
              </a:rPr>
              <a:t>01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201240" y="1572840"/>
            <a:ext cx="1599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Filtrage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274320" y="1938600"/>
            <a:ext cx="1453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Suppr. résidentiel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+ outliers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9"/>
          <p:cNvSpPr/>
          <p:nvPr/>
        </p:nvSpPr>
        <p:spPr>
          <a:xfrm>
            <a:off x="1801080" y="1956600"/>
            <a:ext cx="155520" cy="360"/>
          </a:xfrm>
          <a:prstGeom prst="line">
            <a:avLst/>
          </a:prstGeom>
          <a:ln w="254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0"/>
          <p:cNvSpPr/>
          <p:nvPr/>
        </p:nvSpPr>
        <p:spPr>
          <a:xfrm>
            <a:off x="1956960" y="1051560"/>
            <a:ext cx="1599840" cy="18284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1"/>
          <p:cNvSpPr/>
          <p:nvPr/>
        </p:nvSpPr>
        <p:spPr>
          <a:xfrm>
            <a:off x="1956960" y="1051560"/>
            <a:ext cx="1599840" cy="5436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1956960" y="109728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ffb833"/>
                </a:solidFill>
                <a:effectLst/>
                <a:uFillTx/>
                <a:latin typeface="Arial Black"/>
                <a:ea typeface="Arial Black"/>
              </a:rPr>
              <a:t>02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1956960" y="1572840"/>
            <a:ext cx="1599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Nettoyage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4"/>
          <p:cNvSpPr/>
          <p:nvPr/>
        </p:nvSpPr>
        <p:spPr>
          <a:xfrm>
            <a:off x="2030040" y="1938600"/>
            <a:ext cx="1453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Drop colonnes fuite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et redondantes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5"/>
          <p:cNvSpPr/>
          <p:nvPr/>
        </p:nvSpPr>
        <p:spPr>
          <a:xfrm>
            <a:off x="3556800" y="1956600"/>
            <a:ext cx="155520" cy="360"/>
          </a:xfrm>
          <a:prstGeom prst="line">
            <a:avLst/>
          </a:prstGeom>
          <a:ln w="254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6"/>
          <p:cNvSpPr/>
          <p:nvPr/>
        </p:nvSpPr>
        <p:spPr>
          <a:xfrm>
            <a:off x="3712320" y="1051560"/>
            <a:ext cx="1599840" cy="18284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7"/>
          <p:cNvSpPr/>
          <p:nvPr/>
        </p:nvSpPr>
        <p:spPr>
          <a:xfrm>
            <a:off x="3712320" y="1051560"/>
            <a:ext cx="1599840" cy="543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8"/>
          <p:cNvSpPr/>
          <p:nvPr/>
        </p:nvSpPr>
        <p:spPr>
          <a:xfrm>
            <a:off x="3712320" y="109728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4fc3f7"/>
                </a:solidFill>
                <a:effectLst/>
                <a:uFillTx/>
                <a:latin typeface="Arial Black"/>
                <a:ea typeface="Arial Black"/>
              </a:rPr>
              <a:t>03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9"/>
          <p:cNvSpPr/>
          <p:nvPr/>
        </p:nvSpPr>
        <p:spPr>
          <a:xfrm>
            <a:off x="3712320" y="1572840"/>
            <a:ext cx="1599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Feature Eng.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0"/>
          <p:cNvSpPr/>
          <p:nvPr/>
        </p:nvSpPr>
        <p:spPr>
          <a:xfrm>
            <a:off x="3785760" y="1938600"/>
            <a:ext cx="1453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built_Age ·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builiding_ratio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1"/>
          <p:cNvSpPr/>
          <p:nvPr/>
        </p:nvSpPr>
        <p:spPr>
          <a:xfrm>
            <a:off x="5312520" y="1956600"/>
            <a:ext cx="155520" cy="360"/>
          </a:xfrm>
          <a:prstGeom prst="line">
            <a:avLst/>
          </a:prstGeom>
          <a:ln w="254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2"/>
          <p:cNvSpPr/>
          <p:nvPr/>
        </p:nvSpPr>
        <p:spPr>
          <a:xfrm>
            <a:off x="5468040" y="1051560"/>
            <a:ext cx="1599840" cy="18284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3"/>
          <p:cNvSpPr/>
          <p:nvPr/>
        </p:nvSpPr>
        <p:spPr>
          <a:xfrm>
            <a:off x="5468040" y="1051560"/>
            <a:ext cx="1599840" cy="543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4"/>
          <p:cNvSpPr/>
          <p:nvPr/>
        </p:nvSpPr>
        <p:spPr>
          <a:xfrm>
            <a:off x="5468040" y="109728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0c896"/>
                </a:solidFill>
                <a:effectLst/>
                <a:uFillTx/>
                <a:latin typeface="Arial Black"/>
                <a:ea typeface="Arial Black"/>
              </a:rPr>
              <a:t>04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5"/>
          <p:cNvSpPr/>
          <p:nvPr/>
        </p:nvSpPr>
        <p:spPr>
          <a:xfrm>
            <a:off x="5468040" y="1572840"/>
            <a:ext cx="1599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Log1p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6"/>
          <p:cNvSpPr/>
          <p:nvPr/>
        </p:nvSpPr>
        <p:spPr>
          <a:xfrm>
            <a:off x="5541120" y="1938600"/>
            <a:ext cx="1453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NumberofFloors</a:t>
            </a: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 · 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PropertyGFATotal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Target (y)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7"/>
          <p:cNvSpPr/>
          <p:nvPr/>
        </p:nvSpPr>
        <p:spPr>
          <a:xfrm>
            <a:off x="7068240" y="1956600"/>
            <a:ext cx="155520" cy="360"/>
          </a:xfrm>
          <a:prstGeom prst="line">
            <a:avLst/>
          </a:prstGeom>
          <a:ln w="254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8"/>
          <p:cNvSpPr/>
          <p:nvPr/>
        </p:nvSpPr>
        <p:spPr>
          <a:xfrm>
            <a:off x="7223760" y="1051560"/>
            <a:ext cx="1599840" cy="18284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9"/>
          <p:cNvSpPr/>
          <p:nvPr/>
        </p:nvSpPr>
        <p:spPr>
          <a:xfrm>
            <a:off x="7223760" y="1051560"/>
            <a:ext cx="1599840" cy="54360"/>
          </a:xfrm>
          <a:prstGeom prst="rect">
            <a:avLst/>
          </a:prstGeom>
          <a:solidFill>
            <a:srgbClr val="b388ff"/>
          </a:solidFill>
          <a:ln w="12700">
            <a:solidFill>
              <a:srgbClr val="b38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0"/>
          <p:cNvSpPr/>
          <p:nvPr/>
        </p:nvSpPr>
        <p:spPr>
          <a:xfrm>
            <a:off x="7223760" y="109728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b388ff"/>
                </a:solidFill>
                <a:effectLst/>
                <a:uFillTx/>
                <a:latin typeface="Arial Black"/>
                <a:ea typeface="Arial Black"/>
              </a:rPr>
              <a:t>05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1"/>
          <p:cNvSpPr/>
          <p:nvPr/>
        </p:nvSpPr>
        <p:spPr>
          <a:xfrm>
            <a:off x="7223760" y="1572840"/>
            <a:ext cx="1599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Imputation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2"/>
          <p:cNvSpPr/>
          <p:nvPr/>
        </p:nvSpPr>
        <p:spPr>
          <a:xfrm>
            <a:off x="7296840" y="1938600"/>
            <a:ext cx="1453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Médiane (num)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Mode (cat) — train only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33"/>
          <p:cNvSpPr/>
          <p:nvPr/>
        </p:nvSpPr>
        <p:spPr>
          <a:xfrm>
            <a:off x="180000" y="3150720"/>
            <a:ext cx="8741160" cy="199296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34"/>
          <p:cNvSpPr/>
          <p:nvPr/>
        </p:nvSpPr>
        <p:spPr>
          <a:xfrm>
            <a:off x="201240" y="3017520"/>
            <a:ext cx="8741160" cy="6372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5"/>
          <p:cNvSpPr/>
          <p:nvPr/>
        </p:nvSpPr>
        <p:spPr>
          <a:xfrm>
            <a:off x="347400" y="312732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Variables construites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6"/>
          <p:cNvSpPr/>
          <p:nvPr/>
        </p:nvSpPr>
        <p:spPr>
          <a:xfrm>
            <a:off x="320040" y="3493080"/>
            <a:ext cx="1479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0c896"/>
                </a:solidFill>
                <a:effectLst/>
                <a:uFillTx/>
                <a:latin typeface="Consolas"/>
                <a:ea typeface="Consolas"/>
              </a:rPr>
              <a:t>built_Age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7"/>
          <p:cNvSpPr/>
          <p:nvPr/>
        </p:nvSpPr>
        <p:spPr>
          <a:xfrm>
            <a:off x="320040" y="378576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DataYear − YearBuilt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8"/>
          <p:cNvSpPr/>
          <p:nvPr/>
        </p:nvSpPr>
        <p:spPr>
          <a:xfrm>
            <a:off x="320040" y="4060080"/>
            <a:ext cx="2742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Bâtiments anciens = isolation défaillante → plus d'émissions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9"/>
          <p:cNvSpPr/>
          <p:nvPr/>
        </p:nvSpPr>
        <p:spPr>
          <a:xfrm>
            <a:off x="3227760" y="34930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0"/>
          <p:cNvSpPr/>
          <p:nvPr/>
        </p:nvSpPr>
        <p:spPr>
          <a:xfrm>
            <a:off x="3227760" y="378576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1"/>
          <p:cNvSpPr/>
          <p:nvPr/>
        </p:nvSpPr>
        <p:spPr>
          <a:xfrm>
            <a:off x="3227760" y="4060080"/>
            <a:ext cx="2742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2"/>
          <p:cNvSpPr/>
          <p:nvPr/>
        </p:nvSpPr>
        <p:spPr>
          <a:xfrm>
            <a:off x="5400000" y="349344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4fc3f7"/>
                </a:solidFill>
                <a:effectLst/>
                <a:uFillTx/>
                <a:latin typeface="Consolas"/>
                <a:ea typeface="Consolas"/>
              </a:rPr>
              <a:t>building_Ratio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43"/>
          <p:cNvSpPr/>
          <p:nvPr/>
        </p:nvSpPr>
        <p:spPr>
          <a:xfrm>
            <a:off x="5357160" y="388440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GFABuilding / GFATotal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44"/>
          <p:cNvSpPr/>
          <p:nvPr/>
        </p:nvSpPr>
        <p:spPr>
          <a:xfrm rot="21584400">
            <a:off x="5330880" y="4046760"/>
            <a:ext cx="3101040" cy="8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Proportion bâtie vs totale — indicateur d'efficacité spatiale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wipe dir="u"/>
      </p:transition>
    </mc:Choice>
    <mc:Fallback>
      <p:transition spd="slow">
        <p:wipe dir="u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COMPARAISON DES MODÈLES · CO₂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5c5c"/>
                </a:solidFill>
                <a:effectLst/>
                <a:uFillTx/>
                <a:latin typeface="Calibri Light"/>
                <a:ea typeface="Calibri Light"/>
              </a:rPr>
              <a:t>LinearRegression · RandomForest · GradientBoosting · XGBoost — R² Test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"/>
          <p:cNvSpPr/>
          <p:nvPr/>
        </p:nvSpPr>
        <p:spPr>
          <a:xfrm>
            <a:off x="255960" y="1115640"/>
            <a:ext cx="5120280" cy="352008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5"/>
          <p:cNvSpPr/>
          <p:nvPr/>
        </p:nvSpPr>
        <p:spPr>
          <a:xfrm>
            <a:off x="621720" y="362988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274320" y="352044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0.2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7"/>
          <p:cNvSpPr/>
          <p:nvPr/>
        </p:nvSpPr>
        <p:spPr>
          <a:xfrm>
            <a:off x="621720" y="312696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8"/>
          <p:cNvSpPr/>
          <p:nvPr/>
        </p:nvSpPr>
        <p:spPr>
          <a:xfrm>
            <a:off x="274320" y="301752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0.3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9"/>
          <p:cNvSpPr/>
          <p:nvPr/>
        </p:nvSpPr>
        <p:spPr>
          <a:xfrm>
            <a:off x="621720" y="262404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274320" y="251460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0.4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1"/>
          <p:cNvSpPr/>
          <p:nvPr/>
        </p:nvSpPr>
        <p:spPr>
          <a:xfrm>
            <a:off x="621720" y="212112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2"/>
          <p:cNvSpPr/>
          <p:nvPr/>
        </p:nvSpPr>
        <p:spPr>
          <a:xfrm>
            <a:off x="274320" y="201168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0.5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3"/>
          <p:cNvSpPr/>
          <p:nvPr/>
        </p:nvSpPr>
        <p:spPr>
          <a:xfrm>
            <a:off x="621720" y="161820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4"/>
          <p:cNvSpPr/>
          <p:nvPr/>
        </p:nvSpPr>
        <p:spPr>
          <a:xfrm>
            <a:off x="274320" y="150876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0.6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5"/>
          <p:cNvSpPr/>
          <p:nvPr/>
        </p:nvSpPr>
        <p:spPr>
          <a:xfrm>
            <a:off x="621720" y="111528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6"/>
          <p:cNvSpPr/>
          <p:nvPr/>
        </p:nvSpPr>
        <p:spPr>
          <a:xfrm>
            <a:off x="274320" y="100584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0.7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7"/>
          <p:cNvSpPr/>
          <p:nvPr/>
        </p:nvSpPr>
        <p:spPr>
          <a:xfrm>
            <a:off x="667440" y="3076920"/>
            <a:ext cx="822600" cy="1558800"/>
          </a:xfrm>
          <a:prstGeom prst="rect">
            <a:avLst/>
          </a:prstGeom>
          <a:solidFill>
            <a:srgbClr val="7fa88f"/>
          </a:solidFill>
          <a:ln w="12700">
            <a:solidFill>
              <a:srgbClr val="7fa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8"/>
          <p:cNvSpPr/>
          <p:nvPr/>
        </p:nvSpPr>
        <p:spPr>
          <a:xfrm>
            <a:off x="667440" y="282096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7fa88f"/>
                </a:solidFill>
                <a:effectLst/>
                <a:uFillTx/>
                <a:latin typeface="Arial Black"/>
                <a:ea typeface="Arial Black"/>
              </a:rPr>
              <a:t>0.31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9"/>
          <p:cNvSpPr/>
          <p:nvPr/>
        </p:nvSpPr>
        <p:spPr>
          <a:xfrm>
            <a:off x="621720" y="4672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Linear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Regression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0"/>
          <p:cNvSpPr/>
          <p:nvPr/>
        </p:nvSpPr>
        <p:spPr>
          <a:xfrm>
            <a:off x="1963080" y="2574000"/>
            <a:ext cx="822600" cy="2061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1"/>
          <p:cNvSpPr/>
          <p:nvPr/>
        </p:nvSpPr>
        <p:spPr>
          <a:xfrm>
            <a:off x="1963080" y="231804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4fc3f7"/>
                </a:solidFill>
                <a:effectLst/>
                <a:uFillTx/>
                <a:latin typeface="Arial Black"/>
                <a:ea typeface="Arial Black"/>
              </a:rPr>
              <a:t>0.41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2"/>
          <p:cNvSpPr/>
          <p:nvPr/>
        </p:nvSpPr>
        <p:spPr>
          <a:xfrm>
            <a:off x="1917360" y="4672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Random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Forest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3"/>
          <p:cNvSpPr/>
          <p:nvPr/>
        </p:nvSpPr>
        <p:spPr>
          <a:xfrm>
            <a:off x="3258360" y="2272320"/>
            <a:ext cx="822600" cy="2363400"/>
          </a:xfrm>
          <a:prstGeom prst="rect">
            <a:avLst/>
          </a:prstGeom>
          <a:solidFill>
            <a:srgbClr val="b388ff"/>
          </a:solidFill>
          <a:ln w="12700">
            <a:solidFill>
              <a:srgbClr val="b38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4"/>
          <p:cNvSpPr/>
          <p:nvPr/>
        </p:nvSpPr>
        <p:spPr>
          <a:xfrm>
            <a:off x="3258360" y="201636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b388ff"/>
                </a:solidFill>
                <a:effectLst/>
                <a:uFillTx/>
                <a:latin typeface="Arial Black"/>
                <a:ea typeface="Arial Black"/>
              </a:rPr>
              <a:t>0.47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5"/>
          <p:cNvSpPr/>
          <p:nvPr/>
        </p:nvSpPr>
        <p:spPr>
          <a:xfrm>
            <a:off x="3212640" y="4672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Gradient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Boosting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26"/>
          <p:cNvSpPr/>
          <p:nvPr/>
        </p:nvSpPr>
        <p:spPr>
          <a:xfrm>
            <a:off x="4553640" y="1869840"/>
            <a:ext cx="822600" cy="27658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7"/>
          <p:cNvSpPr/>
          <p:nvPr/>
        </p:nvSpPr>
        <p:spPr>
          <a:xfrm>
            <a:off x="4553640" y="1815120"/>
            <a:ext cx="822600" cy="5436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8"/>
          <p:cNvSpPr/>
          <p:nvPr/>
        </p:nvSpPr>
        <p:spPr>
          <a:xfrm>
            <a:off x="4553640" y="161388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0c896"/>
                </a:solidFill>
                <a:effectLst/>
                <a:uFillTx/>
                <a:latin typeface="Arial Black"/>
                <a:ea typeface="Arial Black"/>
              </a:rPr>
              <a:t>0.55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9"/>
          <p:cNvSpPr/>
          <p:nvPr/>
        </p:nvSpPr>
        <p:spPr>
          <a:xfrm>
            <a:off x="4507920" y="4672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XGBoost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0" descr="preencoded.png"/>
          <p:cNvPicPr/>
          <p:nvPr/>
        </p:nvPicPr>
        <p:blipFill>
          <a:blip r:embed="rId1"/>
          <a:stretch/>
        </p:blipFill>
        <p:spPr>
          <a:xfrm>
            <a:off x="4809600" y="13212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Shape 30"/>
          <p:cNvSpPr/>
          <p:nvPr/>
        </p:nvSpPr>
        <p:spPr>
          <a:xfrm>
            <a:off x="5577840" y="1115640"/>
            <a:ext cx="3309840" cy="352008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31"/>
          <p:cNvSpPr/>
          <p:nvPr/>
        </p:nvSpPr>
        <p:spPr>
          <a:xfrm>
            <a:off x="5577840" y="1115640"/>
            <a:ext cx="3309840" cy="6372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2"/>
          <p:cNvSpPr/>
          <p:nvPr/>
        </p:nvSpPr>
        <p:spPr>
          <a:xfrm>
            <a:off x="5687640" y="120708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CO₂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33"/>
          <p:cNvSpPr/>
          <p:nvPr/>
        </p:nvSpPr>
        <p:spPr>
          <a:xfrm>
            <a:off x="5687640" y="153612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ff5c5c"/>
                </a:solidFill>
                <a:effectLst/>
                <a:uFillTx/>
                <a:latin typeface="Consolas"/>
                <a:ea typeface="Consolas"/>
              </a:rPr>
              <a:t>TotalGHGEmissions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34"/>
          <p:cNvSpPr/>
          <p:nvPr/>
        </p:nvSpPr>
        <p:spPr>
          <a:xfrm>
            <a:off x="5687640" y="1901880"/>
            <a:ext cx="3090240" cy="402120"/>
          </a:xfrm>
          <a:prstGeom prst="rect">
            <a:avLst/>
          </a:prstGeom>
          <a:solidFill>
            <a:srgbClr val="0d1f14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5"/>
          <p:cNvSpPr/>
          <p:nvPr/>
        </p:nvSpPr>
        <p:spPr>
          <a:xfrm>
            <a:off x="5760720" y="197496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Train R²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36"/>
          <p:cNvSpPr/>
          <p:nvPr/>
        </p:nvSpPr>
        <p:spPr>
          <a:xfrm>
            <a:off x="7498080" y="19749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0.6585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37"/>
          <p:cNvSpPr/>
          <p:nvPr/>
        </p:nvSpPr>
        <p:spPr>
          <a:xfrm>
            <a:off x="5687640" y="2377440"/>
            <a:ext cx="3090240" cy="402120"/>
          </a:xfrm>
          <a:prstGeom prst="rect">
            <a:avLst/>
          </a:prstGeom>
          <a:solidFill>
            <a:srgbClr val="080f0a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38"/>
          <p:cNvSpPr/>
          <p:nvPr/>
        </p:nvSpPr>
        <p:spPr>
          <a:xfrm>
            <a:off x="5760720" y="24505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Test R²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39"/>
          <p:cNvSpPr/>
          <p:nvPr/>
        </p:nvSpPr>
        <p:spPr>
          <a:xfrm>
            <a:off x="7498080" y="245052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0.5485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40"/>
          <p:cNvSpPr/>
          <p:nvPr/>
        </p:nvSpPr>
        <p:spPr>
          <a:xfrm>
            <a:off x="5687640" y="2853000"/>
            <a:ext cx="3090240" cy="402120"/>
          </a:xfrm>
          <a:prstGeom prst="rect">
            <a:avLst/>
          </a:prstGeom>
          <a:solidFill>
            <a:srgbClr val="0d1f14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41"/>
          <p:cNvSpPr/>
          <p:nvPr/>
        </p:nvSpPr>
        <p:spPr>
          <a:xfrm>
            <a:off x="5760720" y="292608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CV R² Moy.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42"/>
          <p:cNvSpPr/>
          <p:nvPr/>
        </p:nvSpPr>
        <p:spPr>
          <a:xfrm>
            <a:off x="7498080" y="292608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0.4441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43"/>
          <p:cNvSpPr/>
          <p:nvPr/>
        </p:nvSpPr>
        <p:spPr>
          <a:xfrm>
            <a:off x="5687640" y="3328560"/>
            <a:ext cx="3090240" cy="402120"/>
          </a:xfrm>
          <a:prstGeom prst="rect">
            <a:avLst/>
          </a:prstGeom>
          <a:solidFill>
            <a:srgbClr val="080f0a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44"/>
          <p:cNvSpPr/>
          <p:nvPr/>
        </p:nvSpPr>
        <p:spPr>
          <a:xfrm>
            <a:off x="5760720" y="34016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CV Écart-t.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5"/>
          <p:cNvSpPr/>
          <p:nvPr/>
        </p:nvSpPr>
        <p:spPr>
          <a:xfrm>
            <a:off x="7498080" y="340164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7fa88f"/>
                </a:solidFill>
                <a:effectLst/>
                <a:uFillTx/>
                <a:latin typeface="Calibri"/>
                <a:ea typeface="Calibri"/>
              </a:rPr>
              <a:t>0.0495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46"/>
          <p:cNvSpPr/>
          <p:nvPr/>
        </p:nvSpPr>
        <p:spPr>
          <a:xfrm>
            <a:off x="5687640" y="3803760"/>
            <a:ext cx="3090240" cy="402120"/>
          </a:xfrm>
          <a:prstGeom prst="rect">
            <a:avLst/>
          </a:prstGeom>
          <a:solidFill>
            <a:srgbClr val="0d1f14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47"/>
          <p:cNvSpPr/>
          <p:nvPr/>
        </p:nvSpPr>
        <p:spPr>
          <a:xfrm>
            <a:off x="5760720" y="387720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RMSE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48"/>
          <p:cNvSpPr/>
          <p:nvPr/>
        </p:nvSpPr>
        <p:spPr>
          <a:xfrm>
            <a:off x="7498080" y="387720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5c5c"/>
                </a:solidFill>
                <a:effectLst/>
                <a:uFillTx/>
                <a:latin typeface="Calibri"/>
                <a:ea typeface="Calibri"/>
              </a:rPr>
              <a:t>1.0349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49"/>
          <p:cNvSpPr/>
          <p:nvPr/>
        </p:nvSpPr>
        <p:spPr>
          <a:xfrm>
            <a:off x="5687640" y="4407480"/>
            <a:ext cx="3090240" cy="164160"/>
          </a:xfrm>
          <a:prstGeom prst="rect">
            <a:avLst/>
          </a:prstGeom>
          <a:solidFill>
            <a:srgbClr val="ff5c5c">
              <a:alpha val="20000"/>
            </a:srgbClr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0"/>
          <p:cNvSpPr/>
          <p:nvPr/>
        </p:nvSpPr>
        <p:spPr>
          <a:xfrm>
            <a:off x="5687640" y="4407480"/>
            <a:ext cx="3090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5c5c"/>
                </a:solidFill>
                <a:effectLst/>
                <a:uFillTx/>
                <a:latin typeface="Calibri"/>
                <a:ea typeface="Calibri"/>
              </a:rPr>
              <a:t>🏆  XGBoost — meilleur score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51"/>
          <p:cNvSpPr/>
          <p:nvPr/>
        </p:nvSpPr>
        <p:spPr>
          <a:xfrm>
            <a:off x="255960" y="4937760"/>
            <a:ext cx="863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i="1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* Scores des autres modèles issus de la phase de comparaison — XGBoost retenu comme modèle final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wheel spokes="1"/>
      </p:transition>
    </mc:Choice>
    <mc:Fallback>
      <p:transition spd="slow">
        <p:wheel spokes="1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COMPARAISON DES MODÈLES · ÉNERGIE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b833"/>
                </a:solidFill>
                <a:effectLst/>
                <a:uFillTx/>
                <a:latin typeface="Calibri Light"/>
                <a:ea typeface="Calibri Light"/>
              </a:rPr>
              <a:t>LinearRegression · RandomForest · GradientBoosting · XGBoost — R² Test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4"/>
          <p:cNvSpPr/>
          <p:nvPr/>
        </p:nvSpPr>
        <p:spPr>
          <a:xfrm>
            <a:off x="255960" y="1115640"/>
            <a:ext cx="5120280" cy="352008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5"/>
          <p:cNvSpPr/>
          <p:nvPr/>
        </p:nvSpPr>
        <p:spPr>
          <a:xfrm>
            <a:off x="621720" y="375588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274320" y="364608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0.2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7"/>
          <p:cNvSpPr/>
          <p:nvPr/>
        </p:nvSpPr>
        <p:spPr>
          <a:xfrm>
            <a:off x="621720" y="331560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8"/>
          <p:cNvSpPr/>
          <p:nvPr/>
        </p:nvSpPr>
        <p:spPr>
          <a:xfrm>
            <a:off x="274320" y="320616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0.3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9"/>
          <p:cNvSpPr/>
          <p:nvPr/>
        </p:nvSpPr>
        <p:spPr>
          <a:xfrm>
            <a:off x="621720" y="287568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0"/>
          <p:cNvSpPr/>
          <p:nvPr/>
        </p:nvSpPr>
        <p:spPr>
          <a:xfrm>
            <a:off x="274320" y="276624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0.4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1"/>
          <p:cNvSpPr/>
          <p:nvPr/>
        </p:nvSpPr>
        <p:spPr>
          <a:xfrm>
            <a:off x="621720" y="243540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2"/>
          <p:cNvSpPr/>
          <p:nvPr/>
        </p:nvSpPr>
        <p:spPr>
          <a:xfrm>
            <a:off x="274320" y="232596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0.5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3"/>
          <p:cNvSpPr/>
          <p:nvPr/>
        </p:nvSpPr>
        <p:spPr>
          <a:xfrm>
            <a:off x="621720" y="199548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4"/>
          <p:cNvSpPr/>
          <p:nvPr/>
        </p:nvSpPr>
        <p:spPr>
          <a:xfrm>
            <a:off x="274320" y="188604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0.6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5"/>
          <p:cNvSpPr/>
          <p:nvPr/>
        </p:nvSpPr>
        <p:spPr>
          <a:xfrm>
            <a:off x="621720" y="155556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6"/>
          <p:cNvSpPr/>
          <p:nvPr/>
        </p:nvSpPr>
        <p:spPr>
          <a:xfrm>
            <a:off x="274320" y="144576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0.7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7"/>
          <p:cNvSpPr/>
          <p:nvPr/>
        </p:nvSpPr>
        <p:spPr>
          <a:xfrm>
            <a:off x="621720" y="1115280"/>
            <a:ext cx="4663440" cy="360"/>
          </a:xfrm>
          <a:prstGeom prst="line">
            <a:avLst/>
          </a:prstGeom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8"/>
          <p:cNvSpPr/>
          <p:nvPr/>
        </p:nvSpPr>
        <p:spPr>
          <a:xfrm>
            <a:off x="274320" y="1005840"/>
            <a:ext cx="31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0.8</a:t>
            </a:r>
            <a:endParaRPr lang="fr-FR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9"/>
          <p:cNvSpPr/>
          <p:nvPr/>
        </p:nvSpPr>
        <p:spPr>
          <a:xfrm>
            <a:off x="667440" y="2743920"/>
            <a:ext cx="822600" cy="1891800"/>
          </a:xfrm>
          <a:prstGeom prst="rect">
            <a:avLst/>
          </a:prstGeom>
          <a:solidFill>
            <a:srgbClr val="7fa88f"/>
          </a:solidFill>
          <a:ln w="12700">
            <a:solidFill>
              <a:srgbClr val="7fa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0"/>
          <p:cNvSpPr/>
          <p:nvPr/>
        </p:nvSpPr>
        <p:spPr>
          <a:xfrm>
            <a:off x="667440" y="248760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7fa88f"/>
                </a:solidFill>
                <a:effectLst/>
                <a:uFillTx/>
                <a:latin typeface="Arial Black"/>
                <a:ea typeface="Arial Black"/>
              </a:rPr>
              <a:t>0.43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1"/>
          <p:cNvSpPr/>
          <p:nvPr/>
        </p:nvSpPr>
        <p:spPr>
          <a:xfrm>
            <a:off x="621720" y="4672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Linear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Regression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2"/>
          <p:cNvSpPr/>
          <p:nvPr/>
        </p:nvSpPr>
        <p:spPr>
          <a:xfrm>
            <a:off x="1963080" y="2215800"/>
            <a:ext cx="822600" cy="24199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3"/>
          <p:cNvSpPr/>
          <p:nvPr/>
        </p:nvSpPr>
        <p:spPr>
          <a:xfrm>
            <a:off x="1963080" y="195984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4fc3f7"/>
                </a:solidFill>
                <a:effectLst/>
                <a:uFillTx/>
                <a:latin typeface="Arial Black"/>
                <a:ea typeface="Arial Black"/>
              </a:rPr>
              <a:t>0.55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4"/>
          <p:cNvSpPr/>
          <p:nvPr/>
        </p:nvSpPr>
        <p:spPr>
          <a:xfrm>
            <a:off x="1917360" y="4672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Random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Forest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25"/>
          <p:cNvSpPr/>
          <p:nvPr/>
        </p:nvSpPr>
        <p:spPr>
          <a:xfrm>
            <a:off x="3258360" y="1951560"/>
            <a:ext cx="822600" cy="2683800"/>
          </a:xfrm>
          <a:prstGeom prst="rect">
            <a:avLst/>
          </a:prstGeom>
          <a:solidFill>
            <a:srgbClr val="b388ff"/>
          </a:solidFill>
          <a:ln w="12700">
            <a:solidFill>
              <a:srgbClr val="b38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6"/>
          <p:cNvSpPr/>
          <p:nvPr/>
        </p:nvSpPr>
        <p:spPr>
          <a:xfrm>
            <a:off x="3258360" y="169560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b388ff"/>
                </a:solidFill>
                <a:effectLst/>
                <a:uFillTx/>
                <a:latin typeface="Arial Black"/>
                <a:ea typeface="Arial Black"/>
              </a:rPr>
              <a:t>0.61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7"/>
          <p:cNvSpPr/>
          <p:nvPr/>
        </p:nvSpPr>
        <p:spPr>
          <a:xfrm>
            <a:off x="3212640" y="4672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Gradient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Boosting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8"/>
          <p:cNvSpPr/>
          <p:nvPr/>
        </p:nvSpPr>
        <p:spPr>
          <a:xfrm>
            <a:off x="4553640" y="1687680"/>
            <a:ext cx="822600" cy="294804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29"/>
          <p:cNvSpPr/>
          <p:nvPr/>
        </p:nvSpPr>
        <p:spPr>
          <a:xfrm>
            <a:off x="4553640" y="1632600"/>
            <a:ext cx="822600" cy="5436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30"/>
          <p:cNvSpPr/>
          <p:nvPr/>
        </p:nvSpPr>
        <p:spPr>
          <a:xfrm>
            <a:off x="4553640" y="143172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0c896"/>
                </a:solidFill>
                <a:effectLst/>
                <a:uFillTx/>
                <a:latin typeface="Arial Black"/>
                <a:ea typeface="Arial Black"/>
              </a:rPr>
              <a:t>0.67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1"/>
          <p:cNvSpPr/>
          <p:nvPr/>
        </p:nvSpPr>
        <p:spPr>
          <a:xfrm>
            <a:off x="4507920" y="467244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XGBoost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8" name="Image 0" descr="preencoded.png"/>
          <p:cNvPicPr/>
          <p:nvPr/>
        </p:nvPicPr>
        <p:blipFill>
          <a:blip r:embed="rId1"/>
          <a:stretch/>
        </p:blipFill>
        <p:spPr>
          <a:xfrm>
            <a:off x="4809600" y="11390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Shape 32"/>
          <p:cNvSpPr/>
          <p:nvPr/>
        </p:nvSpPr>
        <p:spPr>
          <a:xfrm>
            <a:off x="5577840" y="1115640"/>
            <a:ext cx="3309840" cy="352008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33"/>
          <p:cNvSpPr/>
          <p:nvPr/>
        </p:nvSpPr>
        <p:spPr>
          <a:xfrm>
            <a:off x="5577840" y="1115640"/>
            <a:ext cx="3309840" cy="6372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34"/>
          <p:cNvSpPr/>
          <p:nvPr/>
        </p:nvSpPr>
        <p:spPr>
          <a:xfrm>
            <a:off x="5687640" y="120708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Énergie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5"/>
          <p:cNvSpPr/>
          <p:nvPr/>
        </p:nvSpPr>
        <p:spPr>
          <a:xfrm>
            <a:off x="5687640" y="153612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ffb833"/>
                </a:solidFill>
                <a:effectLst/>
                <a:uFillTx/>
                <a:latin typeface="Consolas"/>
                <a:ea typeface="Consolas"/>
              </a:rPr>
              <a:t>SiteEnergyUse(kBtu)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36"/>
          <p:cNvSpPr/>
          <p:nvPr/>
        </p:nvSpPr>
        <p:spPr>
          <a:xfrm>
            <a:off x="5687640" y="1901880"/>
            <a:ext cx="3090240" cy="402120"/>
          </a:xfrm>
          <a:prstGeom prst="rect">
            <a:avLst/>
          </a:prstGeom>
          <a:solidFill>
            <a:srgbClr val="0d1f14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37"/>
          <p:cNvSpPr/>
          <p:nvPr/>
        </p:nvSpPr>
        <p:spPr>
          <a:xfrm>
            <a:off x="5760720" y="197496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Train R²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38"/>
          <p:cNvSpPr/>
          <p:nvPr/>
        </p:nvSpPr>
        <p:spPr>
          <a:xfrm>
            <a:off x="7498080" y="197496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0.8508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39"/>
          <p:cNvSpPr/>
          <p:nvPr/>
        </p:nvSpPr>
        <p:spPr>
          <a:xfrm>
            <a:off x="5687640" y="2377440"/>
            <a:ext cx="3090240" cy="402120"/>
          </a:xfrm>
          <a:prstGeom prst="rect">
            <a:avLst/>
          </a:prstGeom>
          <a:solidFill>
            <a:srgbClr val="080f0a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40"/>
          <p:cNvSpPr/>
          <p:nvPr/>
        </p:nvSpPr>
        <p:spPr>
          <a:xfrm>
            <a:off x="5760720" y="24505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Test R²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41"/>
          <p:cNvSpPr/>
          <p:nvPr/>
        </p:nvSpPr>
        <p:spPr>
          <a:xfrm>
            <a:off x="7498080" y="245052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0.6659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42"/>
          <p:cNvSpPr/>
          <p:nvPr/>
        </p:nvSpPr>
        <p:spPr>
          <a:xfrm>
            <a:off x="5687640" y="2853000"/>
            <a:ext cx="3090240" cy="402120"/>
          </a:xfrm>
          <a:prstGeom prst="rect">
            <a:avLst/>
          </a:prstGeom>
          <a:solidFill>
            <a:srgbClr val="0d1f14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43"/>
          <p:cNvSpPr/>
          <p:nvPr/>
        </p:nvSpPr>
        <p:spPr>
          <a:xfrm>
            <a:off x="5760720" y="292608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CV R² Moy.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44"/>
          <p:cNvSpPr/>
          <p:nvPr/>
        </p:nvSpPr>
        <p:spPr>
          <a:xfrm>
            <a:off x="7498080" y="292608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0.5881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5"/>
          <p:cNvSpPr/>
          <p:nvPr/>
        </p:nvSpPr>
        <p:spPr>
          <a:xfrm>
            <a:off x="5687640" y="3328560"/>
            <a:ext cx="3090240" cy="402120"/>
          </a:xfrm>
          <a:prstGeom prst="rect">
            <a:avLst/>
          </a:prstGeom>
          <a:solidFill>
            <a:srgbClr val="080f0a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46"/>
          <p:cNvSpPr/>
          <p:nvPr/>
        </p:nvSpPr>
        <p:spPr>
          <a:xfrm>
            <a:off x="5760720" y="34016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CV Écart-t.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47"/>
          <p:cNvSpPr/>
          <p:nvPr/>
        </p:nvSpPr>
        <p:spPr>
          <a:xfrm>
            <a:off x="7498080" y="340164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5c5c"/>
                </a:solidFill>
                <a:effectLst/>
                <a:uFillTx/>
                <a:latin typeface="Calibri"/>
                <a:ea typeface="Calibri"/>
              </a:rPr>
              <a:t>0.2415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48"/>
          <p:cNvSpPr/>
          <p:nvPr/>
        </p:nvSpPr>
        <p:spPr>
          <a:xfrm>
            <a:off x="5687640" y="3803760"/>
            <a:ext cx="3090240" cy="402120"/>
          </a:xfrm>
          <a:prstGeom prst="rect">
            <a:avLst/>
          </a:prstGeom>
          <a:solidFill>
            <a:srgbClr val="0d1f14"/>
          </a:solidFill>
          <a:ln w="635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49"/>
          <p:cNvSpPr/>
          <p:nvPr/>
        </p:nvSpPr>
        <p:spPr>
          <a:xfrm>
            <a:off x="5760720" y="387720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RMSE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50"/>
          <p:cNvSpPr/>
          <p:nvPr/>
        </p:nvSpPr>
        <p:spPr>
          <a:xfrm>
            <a:off x="7498080" y="3877200"/>
            <a:ext cx="118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7fa88f"/>
                </a:solidFill>
                <a:effectLst/>
                <a:uFillTx/>
                <a:latin typeface="Calibri"/>
                <a:ea typeface="Calibri"/>
              </a:rPr>
              <a:t>1.1430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51"/>
          <p:cNvSpPr/>
          <p:nvPr/>
        </p:nvSpPr>
        <p:spPr>
          <a:xfrm>
            <a:off x="5687640" y="4407480"/>
            <a:ext cx="3090240" cy="164160"/>
          </a:xfrm>
          <a:prstGeom prst="rect">
            <a:avLst/>
          </a:prstGeom>
          <a:solidFill>
            <a:srgbClr val="ffb833">
              <a:alpha val="20000"/>
            </a:srgbClr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52"/>
          <p:cNvSpPr/>
          <p:nvPr/>
        </p:nvSpPr>
        <p:spPr>
          <a:xfrm>
            <a:off x="5687640" y="4407480"/>
            <a:ext cx="3090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🏆  XGBoost — meilleur score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53"/>
          <p:cNvSpPr/>
          <p:nvPr/>
        </p:nvSpPr>
        <p:spPr>
          <a:xfrm>
            <a:off x="255960" y="4937760"/>
            <a:ext cx="8631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i="1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* Scores des autres modèles issus de la phase de comparaison — XGBoost retenu comme modèle final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wheel spokes="1"/>
      </p:transition>
    </mc:Choice>
    <mc:Fallback>
      <p:transition spd="slow">
        <p:wheel spokes="1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RÉSULTATS XGBoost · MODÈLE CO₂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5c5c"/>
                </a:solidFill>
                <a:effectLst/>
                <a:uFillTx/>
                <a:latin typeface="Calibri Light"/>
                <a:ea typeface="Calibri Light"/>
              </a:rPr>
              <a:t>TotalGHGEmissions — 800 estimateurs · lr=0.03 · depth=2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255960" y="1115640"/>
            <a:ext cx="2669760" cy="1325520"/>
          </a:xfrm>
          <a:prstGeom prst="rect">
            <a:avLst/>
          </a:prstGeom>
          <a:solidFill>
            <a:srgbClr val="112318"/>
          </a:solidFill>
          <a:ln w="1905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255960" y="1115640"/>
            <a:ext cx="2669760" cy="6372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255960" y="1234440"/>
            <a:ext cx="2669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1" u="none" strike="noStrike">
                <a:solidFill>
                  <a:srgbClr val="ffb833"/>
                </a:solidFill>
                <a:effectLst/>
                <a:uFillTx/>
                <a:latin typeface="Arial Black"/>
                <a:ea typeface="Arial Black"/>
              </a:rPr>
              <a:t>0.6585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255960" y="1874520"/>
            <a:ext cx="26697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R² Train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8"/>
          <p:cNvSpPr/>
          <p:nvPr/>
        </p:nvSpPr>
        <p:spPr>
          <a:xfrm>
            <a:off x="255960" y="2176200"/>
            <a:ext cx="2669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Sur données d'entraînement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9"/>
          <p:cNvSpPr/>
          <p:nvPr/>
        </p:nvSpPr>
        <p:spPr>
          <a:xfrm>
            <a:off x="3163680" y="1115640"/>
            <a:ext cx="2669760" cy="1325520"/>
          </a:xfrm>
          <a:prstGeom prst="rect">
            <a:avLst/>
          </a:prstGeom>
          <a:solidFill>
            <a:srgbClr val="112318"/>
          </a:solidFill>
          <a:ln w="1905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0"/>
          <p:cNvSpPr/>
          <p:nvPr/>
        </p:nvSpPr>
        <p:spPr>
          <a:xfrm>
            <a:off x="3163680" y="1115640"/>
            <a:ext cx="2669760" cy="63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1"/>
          <p:cNvSpPr/>
          <p:nvPr/>
        </p:nvSpPr>
        <p:spPr>
          <a:xfrm>
            <a:off x="3163680" y="1234440"/>
            <a:ext cx="2669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1" u="none" strike="noStrike">
                <a:solidFill>
                  <a:srgbClr val="00c896"/>
                </a:solidFill>
                <a:effectLst/>
                <a:uFillTx/>
                <a:latin typeface="Arial Black"/>
                <a:ea typeface="Arial Black"/>
              </a:rPr>
              <a:t>0.5485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2"/>
          <p:cNvSpPr/>
          <p:nvPr/>
        </p:nvSpPr>
        <p:spPr>
          <a:xfrm>
            <a:off x="3163680" y="1874520"/>
            <a:ext cx="26697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R² Test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3163680" y="2176200"/>
            <a:ext cx="2669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Sur données de test (20%)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14"/>
          <p:cNvSpPr/>
          <p:nvPr/>
        </p:nvSpPr>
        <p:spPr>
          <a:xfrm>
            <a:off x="6071760" y="1115640"/>
            <a:ext cx="2669760" cy="1325520"/>
          </a:xfrm>
          <a:prstGeom prst="rect">
            <a:avLst/>
          </a:prstGeom>
          <a:solidFill>
            <a:srgbClr val="112318"/>
          </a:solidFill>
          <a:ln w="1905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5"/>
          <p:cNvSpPr/>
          <p:nvPr/>
        </p:nvSpPr>
        <p:spPr>
          <a:xfrm>
            <a:off x="6071760" y="1115640"/>
            <a:ext cx="2669760" cy="63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6"/>
          <p:cNvSpPr/>
          <p:nvPr/>
        </p:nvSpPr>
        <p:spPr>
          <a:xfrm>
            <a:off x="6071760" y="1234440"/>
            <a:ext cx="2669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1" u="none" strike="noStrike">
                <a:solidFill>
                  <a:srgbClr val="4fc3f7"/>
                </a:solidFill>
                <a:effectLst/>
                <a:uFillTx/>
                <a:latin typeface="Arial Black"/>
                <a:ea typeface="Arial Black"/>
              </a:rPr>
              <a:t>0.4441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7"/>
          <p:cNvSpPr/>
          <p:nvPr/>
        </p:nvSpPr>
        <p:spPr>
          <a:xfrm>
            <a:off x="6071760" y="1874520"/>
            <a:ext cx="26697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R² CV Moy.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8"/>
          <p:cNvSpPr/>
          <p:nvPr/>
        </p:nvSpPr>
        <p:spPr>
          <a:xfrm>
            <a:off x="6071760" y="2176200"/>
            <a:ext cx="2669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Validation croisée 5-fold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9"/>
          <p:cNvSpPr/>
          <p:nvPr/>
        </p:nvSpPr>
        <p:spPr>
          <a:xfrm>
            <a:off x="255960" y="2560320"/>
            <a:ext cx="5028840" cy="23954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0"/>
          <p:cNvSpPr/>
          <p:nvPr/>
        </p:nvSpPr>
        <p:spPr>
          <a:xfrm>
            <a:off x="255960" y="2606040"/>
            <a:ext cx="5028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Croisée 5-Fold — R²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1"/>
          <p:cNvSpPr/>
          <p:nvPr/>
        </p:nvSpPr>
        <p:spPr>
          <a:xfrm>
            <a:off x="713160" y="3578760"/>
            <a:ext cx="658080" cy="130392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22"/>
          <p:cNvSpPr/>
          <p:nvPr/>
        </p:nvSpPr>
        <p:spPr>
          <a:xfrm>
            <a:off x="676800" y="334116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5c5c"/>
                </a:solidFill>
                <a:effectLst/>
                <a:uFillTx/>
                <a:latin typeface="Calibri"/>
                <a:ea typeface="Calibri"/>
              </a:rPr>
              <a:t>0.482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3"/>
          <p:cNvSpPr/>
          <p:nvPr/>
        </p:nvSpPr>
        <p:spPr>
          <a:xfrm>
            <a:off x="71316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F1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4"/>
          <p:cNvSpPr/>
          <p:nvPr/>
        </p:nvSpPr>
        <p:spPr>
          <a:xfrm>
            <a:off x="1691640" y="3602520"/>
            <a:ext cx="658080" cy="128016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5"/>
          <p:cNvSpPr/>
          <p:nvPr/>
        </p:nvSpPr>
        <p:spPr>
          <a:xfrm>
            <a:off x="1654920" y="33649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5c5c"/>
                </a:solidFill>
                <a:effectLst/>
                <a:uFillTx/>
                <a:latin typeface="Calibri"/>
                <a:ea typeface="Calibri"/>
              </a:rPr>
              <a:t>0.473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6"/>
          <p:cNvSpPr/>
          <p:nvPr/>
        </p:nvSpPr>
        <p:spPr>
          <a:xfrm>
            <a:off x="169164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F2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27"/>
          <p:cNvSpPr/>
          <p:nvPr/>
        </p:nvSpPr>
        <p:spPr>
          <a:xfrm>
            <a:off x="2670120" y="3888360"/>
            <a:ext cx="658080" cy="99432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28"/>
          <p:cNvSpPr/>
          <p:nvPr/>
        </p:nvSpPr>
        <p:spPr>
          <a:xfrm>
            <a:off x="2633400" y="365076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5c5c"/>
                </a:solidFill>
                <a:effectLst/>
                <a:uFillTx/>
                <a:latin typeface="Calibri"/>
                <a:ea typeface="Calibri"/>
              </a:rPr>
              <a:t>0.368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9"/>
          <p:cNvSpPr/>
          <p:nvPr/>
        </p:nvSpPr>
        <p:spPr>
          <a:xfrm>
            <a:off x="267012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F3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30"/>
          <p:cNvSpPr/>
          <p:nvPr/>
        </p:nvSpPr>
        <p:spPr>
          <a:xfrm>
            <a:off x="3648600" y="3791880"/>
            <a:ext cx="658080" cy="109080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31"/>
          <p:cNvSpPr/>
          <p:nvPr/>
        </p:nvSpPr>
        <p:spPr>
          <a:xfrm>
            <a:off x="3611880" y="35539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5c5c"/>
                </a:solidFill>
                <a:effectLst/>
                <a:uFillTx/>
                <a:latin typeface="Calibri"/>
                <a:ea typeface="Calibri"/>
              </a:rPr>
              <a:t>0.404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2"/>
          <p:cNvSpPr/>
          <p:nvPr/>
        </p:nvSpPr>
        <p:spPr>
          <a:xfrm>
            <a:off x="364860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F4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33"/>
          <p:cNvSpPr/>
          <p:nvPr/>
        </p:nvSpPr>
        <p:spPr>
          <a:xfrm>
            <a:off x="4626720" y="3548520"/>
            <a:ext cx="658080" cy="133416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34"/>
          <p:cNvSpPr/>
          <p:nvPr/>
        </p:nvSpPr>
        <p:spPr>
          <a:xfrm>
            <a:off x="4590360" y="331056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5c5c"/>
                </a:solidFill>
                <a:effectLst/>
                <a:uFillTx/>
                <a:latin typeface="Calibri"/>
                <a:ea typeface="Calibri"/>
              </a:rPr>
              <a:t>0.493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35"/>
          <p:cNvSpPr/>
          <p:nvPr/>
        </p:nvSpPr>
        <p:spPr>
          <a:xfrm>
            <a:off x="462672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F5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36"/>
          <p:cNvSpPr/>
          <p:nvPr/>
        </p:nvSpPr>
        <p:spPr>
          <a:xfrm>
            <a:off x="640080" y="3681720"/>
            <a:ext cx="4572000" cy="360"/>
          </a:xfrm>
          <a:prstGeom prst="line">
            <a:avLst/>
          </a:prstGeom>
          <a:ln w="19050">
            <a:solidFill>
              <a:srgbClr val="ffb83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37"/>
          <p:cNvSpPr/>
          <p:nvPr/>
        </p:nvSpPr>
        <p:spPr>
          <a:xfrm>
            <a:off x="3913560" y="3480840"/>
            <a:ext cx="127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Moy. 0.4441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38"/>
          <p:cNvSpPr/>
          <p:nvPr/>
        </p:nvSpPr>
        <p:spPr>
          <a:xfrm>
            <a:off x="5486400" y="2560320"/>
            <a:ext cx="3401280" cy="23954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39"/>
          <p:cNvSpPr/>
          <p:nvPr/>
        </p:nvSpPr>
        <p:spPr>
          <a:xfrm>
            <a:off x="5486400" y="2560320"/>
            <a:ext cx="3401280" cy="6372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40"/>
          <p:cNvSpPr/>
          <p:nvPr/>
        </p:nvSpPr>
        <p:spPr>
          <a:xfrm>
            <a:off x="5614560" y="266076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41"/>
          <p:cNvSpPr/>
          <p:nvPr/>
        </p:nvSpPr>
        <p:spPr>
          <a:xfrm>
            <a:off x="5577840" y="3081600"/>
            <a:ext cx="63720" cy="3837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42"/>
          <p:cNvSpPr/>
          <p:nvPr/>
        </p:nvSpPr>
        <p:spPr>
          <a:xfrm>
            <a:off x="5706000" y="3081600"/>
            <a:ext cx="3090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Variance CV faible (σ=0.05) → Modèle stable entre les folds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43"/>
          <p:cNvSpPr/>
          <p:nvPr/>
        </p:nvSpPr>
        <p:spPr>
          <a:xfrm>
            <a:off x="5577840" y="3648600"/>
            <a:ext cx="63720" cy="38376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44"/>
          <p:cNvSpPr/>
          <p:nvPr/>
        </p:nvSpPr>
        <p:spPr>
          <a:xfrm>
            <a:off x="5706000" y="3648600"/>
            <a:ext cx="3090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Gap Train/Test modéré → Légère généralisation à améliorer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45"/>
          <p:cNvSpPr/>
          <p:nvPr/>
        </p:nvSpPr>
        <p:spPr>
          <a:xfrm>
            <a:off x="5577840" y="4215240"/>
            <a:ext cx="63720" cy="3837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46"/>
          <p:cNvSpPr/>
          <p:nvPr/>
        </p:nvSpPr>
        <p:spPr>
          <a:xfrm>
            <a:off x="5706000" y="4215240"/>
            <a:ext cx="3090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RMSE=1.03 sur log(CO₂) → Erreur maîtrisée à l'échelle log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plus/>
      </p:transition>
    </mc:Choice>
    <mc:Fallback>
      <p:transition spd="slow">
        <p:plus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RÉSULTATS XGBoost · MODÈLE ÉNERGIE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b833"/>
                </a:solidFill>
                <a:effectLst/>
                <a:uFillTx/>
                <a:latin typeface="Calibri Light"/>
                <a:ea typeface="Calibri Light"/>
              </a:rPr>
              <a:t>SiteEnergyUse(kBtu) — 600 estimateurs · lr=0.01 · depth=4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4"/>
          <p:cNvSpPr/>
          <p:nvPr/>
        </p:nvSpPr>
        <p:spPr>
          <a:xfrm>
            <a:off x="255960" y="1115640"/>
            <a:ext cx="2669760" cy="1325520"/>
          </a:xfrm>
          <a:prstGeom prst="rect">
            <a:avLst/>
          </a:prstGeom>
          <a:solidFill>
            <a:srgbClr val="112318"/>
          </a:solidFill>
          <a:ln w="1905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5"/>
          <p:cNvSpPr/>
          <p:nvPr/>
        </p:nvSpPr>
        <p:spPr>
          <a:xfrm>
            <a:off x="255960" y="1115640"/>
            <a:ext cx="2669760" cy="6372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6"/>
          <p:cNvSpPr/>
          <p:nvPr/>
        </p:nvSpPr>
        <p:spPr>
          <a:xfrm>
            <a:off x="255960" y="1234440"/>
            <a:ext cx="2669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1" u="none" strike="noStrike">
                <a:solidFill>
                  <a:srgbClr val="ffb833"/>
                </a:solidFill>
                <a:effectLst/>
                <a:uFillTx/>
                <a:latin typeface="Arial Black"/>
                <a:ea typeface="Arial Black"/>
              </a:rPr>
              <a:t>0.8508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7"/>
          <p:cNvSpPr/>
          <p:nvPr/>
        </p:nvSpPr>
        <p:spPr>
          <a:xfrm>
            <a:off x="255960" y="1874520"/>
            <a:ext cx="26697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R² Train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8"/>
          <p:cNvSpPr/>
          <p:nvPr/>
        </p:nvSpPr>
        <p:spPr>
          <a:xfrm>
            <a:off x="255960" y="2176200"/>
            <a:ext cx="2669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Sur données d'entraînement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9"/>
          <p:cNvSpPr/>
          <p:nvPr/>
        </p:nvSpPr>
        <p:spPr>
          <a:xfrm>
            <a:off x="3163680" y="1115640"/>
            <a:ext cx="2669760" cy="1325520"/>
          </a:xfrm>
          <a:prstGeom prst="rect">
            <a:avLst/>
          </a:prstGeom>
          <a:solidFill>
            <a:srgbClr val="112318"/>
          </a:solidFill>
          <a:ln w="1905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10"/>
          <p:cNvSpPr/>
          <p:nvPr/>
        </p:nvSpPr>
        <p:spPr>
          <a:xfrm>
            <a:off x="3163680" y="1115640"/>
            <a:ext cx="2669760" cy="63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1"/>
          <p:cNvSpPr/>
          <p:nvPr/>
        </p:nvSpPr>
        <p:spPr>
          <a:xfrm>
            <a:off x="3163680" y="1234440"/>
            <a:ext cx="2669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1" u="none" strike="noStrike">
                <a:solidFill>
                  <a:srgbClr val="00c896"/>
                </a:solidFill>
                <a:effectLst/>
                <a:uFillTx/>
                <a:latin typeface="Arial Black"/>
                <a:ea typeface="Arial Black"/>
              </a:rPr>
              <a:t>0.6659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2"/>
          <p:cNvSpPr/>
          <p:nvPr/>
        </p:nvSpPr>
        <p:spPr>
          <a:xfrm>
            <a:off x="3163680" y="1874520"/>
            <a:ext cx="26697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R² Test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3"/>
          <p:cNvSpPr/>
          <p:nvPr/>
        </p:nvSpPr>
        <p:spPr>
          <a:xfrm>
            <a:off x="3163680" y="2176200"/>
            <a:ext cx="2669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Sur données de test (20%)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14"/>
          <p:cNvSpPr/>
          <p:nvPr/>
        </p:nvSpPr>
        <p:spPr>
          <a:xfrm>
            <a:off x="6071760" y="1115640"/>
            <a:ext cx="2669760" cy="1325520"/>
          </a:xfrm>
          <a:prstGeom prst="rect">
            <a:avLst/>
          </a:prstGeom>
          <a:solidFill>
            <a:srgbClr val="112318"/>
          </a:solidFill>
          <a:ln w="1905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5"/>
          <p:cNvSpPr/>
          <p:nvPr/>
        </p:nvSpPr>
        <p:spPr>
          <a:xfrm>
            <a:off x="6071760" y="1115640"/>
            <a:ext cx="2669760" cy="63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6"/>
          <p:cNvSpPr/>
          <p:nvPr/>
        </p:nvSpPr>
        <p:spPr>
          <a:xfrm>
            <a:off x="6071760" y="1234440"/>
            <a:ext cx="2669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1" u="none" strike="noStrike">
                <a:solidFill>
                  <a:srgbClr val="4fc3f7"/>
                </a:solidFill>
                <a:effectLst/>
                <a:uFillTx/>
                <a:latin typeface="Arial Black"/>
                <a:ea typeface="Arial Black"/>
              </a:rPr>
              <a:t>0.5881</a:t>
            </a:r>
            <a:endParaRPr lang="fr-FR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7"/>
          <p:cNvSpPr/>
          <p:nvPr/>
        </p:nvSpPr>
        <p:spPr>
          <a:xfrm>
            <a:off x="6071760" y="1874520"/>
            <a:ext cx="26697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R² CV Moy.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8"/>
          <p:cNvSpPr/>
          <p:nvPr/>
        </p:nvSpPr>
        <p:spPr>
          <a:xfrm>
            <a:off x="6071760" y="2176200"/>
            <a:ext cx="2669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Validation croisée 5-fold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9"/>
          <p:cNvSpPr/>
          <p:nvPr/>
        </p:nvSpPr>
        <p:spPr>
          <a:xfrm>
            <a:off x="255960" y="2520000"/>
            <a:ext cx="5144040" cy="243576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20"/>
          <p:cNvSpPr/>
          <p:nvPr/>
        </p:nvSpPr>
        <p:spPr>
          <a:xfrm>
            <a:off x="255960" y="2606040"/>
            <a:ext cx="5028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Croisée 5-Fold — R²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21"/>
          <p:cNvSpPr/>
          <p:nvPr/>
        </p:nvSpPr>
        <p:spPr>
          <a:xfrm>
            <a:off x="713160" y="3648600"/>
            <a:ext cx="658080" cy="123408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22"/>
          <p:cNvSpPr/>
          <p:nvPr/>
        </p:nvSpPr>
        <p:spPr>
          <a:xfrm>
            <a:off x="676800" y="341100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0.652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23"/>
          <p:cNvSpPr/>
          <p:nvPr/>
        </p:nvSpPr>
        <p:spPr>
          <a:xfrm>
            <a:off x="71316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F1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24"/>
          <p:cNvSpPr/>
          <p:nvPr/>
        </p:nvSpPr>
        <p:spPr>
          <a:xfrm>
            <a:off x="1691640" y="3386880"/>
            <a:ext cx="658080" cy="149544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5"/>
          <p:cNvSpPr/>
          <p:nvPr/>
        </p:nvSpPr>
        <p:spPr>
          <a:xfrm>
            <a:off x="1654920" y="314928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0.790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26"/>
          <p:cNvSpPr/>
          <p:nvPr/>
        </p:nvSpPr>
        <p:spPr>
          <a:xfrm>
            <a:off x="169164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F2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27"/>
          <p:cNvSpPr/>
          <p:nvPr/>
        </p:nvSpPr>
        <p:spPr>
          <a:xfrm>
            <a:off x="2670120" y="4663440"/>
            <a:ext cx="658080" cy="21888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8"/>
          <p:cNvSpPr/>
          <p:nvPr/>
        </p:nvSpPr>
        <p:spPr>
          <a:xfrm>
            <a:off x="2633400" y="442584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5c5c"/>
                </a:solidFill>
                <a:effectLst/>
                <a:uFillTx/>
                <a:latin typeface="Calibri"/>
                <a:ea typeface="Calibri"/>
              </a:rPr>
              <a:t>0.116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9"/>
          <p:cNvSpPr/>
          <p:nvPr/>
        </p:nvSpPr>
        <p:spPr>
          <a:xfrm>
            <a:off x="267012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F3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30"/>
          <p:cNvSpPr/>
          <p:nvPr/>
        </p:nvSpPr>
        <p:spPr>
          <a:xfrm>
            <a:off x="3648600" y="3640320"/>
            <a:ext cx="658080" cy="124236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31"/>
          <p:cNvSpPr/>
          <p:nvPr/>
        </p:nvSpPr>
        <p:spPr>
          <a:xfrm>
            <a:off x="3611880" y="340236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0.656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32"/>
          <p:cNvSpPr/>
          <p:nvPr/>
        </p:nvSpPr>
        <p:spPr>
          <a:xfrm>
            <a:off x="364860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F4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33"/>
          <p:cNvSpPr/>
          <p:nvPr/>
        </p:nvSpPr>
        <p:spPr>
          <a:xfrm>
            <a:off x="4626720" y="3509640"/>
            <a:ext cx="658080" cy="137304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34"/>
          <p:cNvSpPr/>
          <p:nvPr/>
        </p:nvSpPr>
        <p:spPr>
          <a:xfrm>
            <a:off x="4590360" y="327168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0.726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35"/>
          <p:cNvSpPr/>
          <p:nvPr/>
        </p:nvSpPr>
        <p:spPr>
          <a:xfrm>
            <a:off x="4626720" y="4901040"/>
            <a:ext cx="658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F5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36"/>
          <p:cNvSpPr/>
          <p:nvPr/>
        </p:nvSpPr>
        <p:spPr>
          <a:xfrm>
            <a:off x="640080" y="3769560"/>
            <a:ext cx="4572000" cy="360"/>
          </a:xfrm>
          <a:prstGeom prst="line">
            <a:avLst/>
          </a:prstGeom>
          <a:ln w="19050">
            <a:solidFill>
              <a:srgbClr val="4fc3f7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37"/>
          <p:cNvSpPr/>
          <p:nvPr/>
        </p:nvSpPr>
        <p:spPr>
          <a:xfrm>
            <a:off x="3913560" y="3568680"/>
            <a:ext cx="127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trike="noStrik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Moy. 0.5881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38"/>
          <p:cNvSpPr/>
          <p:nvPr/>
        </p:nvSpPr>
        <p:spPr>
          <a:xfrm>
            <a:off x="5486400" y="2560320"/>
            <a:ext cx="3401280" cy="23954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39"/>
          <p:cNvSpPr/>
          <p:nvPr/>
        </p:nvSpPr>
        <p:spPr>
          <a:xfrm>
            <a:off x="5486400" y="2560320"/>
            <a:ext cx="3401280" cy="6372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40"/>
          <p:cNvSpPr/>
          <p:nvPr/>
        </p:nvSpPr>
        <p:spPr>
          <a:xfrm>
            <a:off x="5614560" y="266076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41"/>
          <p:cNvSpPr/>
          <p:nvPr/>
        </p:nvSpPr>
        <p:spPr>
          <a:xfrm>
            <a:off x="5577840" y="3081600"/>
            <a:ext cx="63720" cy="3837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42"/>
          <p:cNvSpPr/>
          <p:nvPr/>
        </p:nvSpPr>
        <p:spPr>
          <a:xfrm>
            <a:off x="5706000" y="3081600"/>
            <a:ext cx="3090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GFATotal (log) = feature dominante — ~42% de variance expliquée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43"/>
          <p:cNvSpPr/>
          <p:nvPr/>
        </p:nvSpPr>
        <p:spPr>
          <a:xfrm>
            <a:off x="5577840" y="3648600"/>
            <a:ext cx="63720" cy="38376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44"/>
          <p:cNvSpPr/>
          <p:nvPr/>
        </p:nvSpPr>
        <p:spPr>
          <a:xfrm>
            <a:off x="5706000" y="3648600"/>
            <a:ext cx="3090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Fold 3 atypique (R²=0.12) → Variance CV élevée (σ=0.24)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45"/>
          <p:cNvSpPr/>
          <p:nvPr/>
        </p:nvSpPr>
        <p:spPr>
          <a:xfrm>
            <a:off x="5577840" y="4215240"/>
            <a:ext cx="63720" cy="3837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46"/>
          <p:cNvSpPr/>
          <p:nvPr/>
        </p:nvSpPr>
        <p:spPr>
          <a:xfrm>
            <a:off x="5706000" y="4215240"/>
            <a:ext cx="3090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Modèle Énergie plus performant que CO₂ (R² test 0.67 vs 0.55)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plus/>
      </p:transition>
    </mc:Choice>
    <mc:Fallback>
      <p:transition spd="slow">
        <p:plus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Shape 0"/>
          <p:cNvSpPr/>
          <p:nvPr/>
        </p:nvSpPr>
        <p:spPr>
          <a:xfrm>
            <a:off x="0" y="120240"/>
            <a:ext cx="9143640" cy="131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"/>
          <p:cNvSpPr/>
          <p:nvPr/>
        </p:nvSpPr>
        <p:spPr>
          <a:xfrm>
            <a:off x="0" y="0"/>
            <a:ext cx="180000" cy="14400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BILAN FINAL · XGBoost vs Autres Modèles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3"/>
          <p:cNvSpPr/>
          <p:nvPr/>
        </p:nvSpPr>
        <p:spPr>
          <a:xfrm>
            <a:off x="255960" y="900000"/>
            <a:ext cx="8686440" cy="54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c896"/>
                </a:solidFill>
                <a:effectLst/>
                <a:uFillTx/>
                <a:latin typeface="Calibri Light"/>
                <a:ea typeface="Calibri Light"/>
              </a:rPr>
              <a:t>Synthèse des 4 algorithmes testés — Sélection du modèle champion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4"/>
          <p:cNvSpPr/>
          <p:nvPr/>
        </p:nvSpPr>
        <p:spPr>
          <a:xfrm>
            <a:off x="255960" y="1499400"/>
            <a:ext cx="1828440" cy="4806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5"/>
          <p:cNvSpPr/>
          <p:nvPr/>
        </p:nvSpPr>
        <p:spPr>
          <a:xfrm>
            <a:off x="255960" y="1499400"/>
            <a:ext cx="182844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Modèle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6"/>
          <p:cNvSpPr/>
          <p:nvPr/>
        </p:nvSpPr>
        <p:spPr>
          <a:xfrm>
            <a:off x="2084760" y="1499400"/>
            <a:ext cx="1371240" cy="4572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7"/>
          <p:cNvSpPr/>
          <p:nvPr/>
        </p:nvSpPr>
        <p:spPr>
          <a:xfrm>
            <a:off x="2084760" y="1499400"/>
            <a:ext cx="137124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CO₂ R² Test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8"/>
          <p:cNvSpPr/>
          <p:nvPr/>
        </p:nvSpPr>
        <p:spPr>
          <a:xfrm>
            <a:off x="3456360" y="1499400"/>
            <a:ext cx="1554120" cy="4572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9"/>
          <p:cNvSpPr/>
          <p:nvPr/>
        </p:nvSpPr>
        <p:spPr>
          <a:xfrm>
            <a:off x="3456360" y="1499400"/>
            <a:ext cx="155412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Énergie R² Test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10"/>
          <p:cNvSpPr/>
          <p:nvPr/>
        </p:nvSpPr>
        <p:spPr>
          <a:xfrm>
            <a:off x="5011200" y="1499400"/>
            <a:ext cx="1188360" cy="4572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1"/>
          <p:cNvSpPr/>
          <p:nvPr/>
        </p:nvSpPr>
        <p:spPr>
          <a:xfrm>
            <a:off x="5010840" y="1499400"/>
            <a:ext cx="118836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Complexité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2"/>
          <p:cNvSpPr/>
          <p:nvPr/>
        </p:nvSpPr>
        <p:spPr>
          <a:xfrm>
            <a:off x="6199560" y="1499400"/>
            <a:ext cx="1554120" cy="4806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3"/>
          <p:cNvSpPr/>
          <p:nvPr/>
        </p:nvSpPr>
        <p:spPr>
          <a:xfrm>
            <a:off x="6199560" y="1499400"/>
            <a:ext cx="155412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Verdict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4"/>
          <p:cNvSpPr/>
          <p:nvPr/>
        </p:nvSpPr>
        <p:spPr>
          <a:xfrm>
            <a:off x="256320" y="1980000"/>
            <a:ext cx="1828440" cy="36000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5"/>
          <p:cNvSpPr/>
          <p:nvPr/>
        </p:nvSpPr>
        <p:spPr>
          <a:xfrm>
            <a:off x="255960" y="1980000"/>
            <a:ext cx="18284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Linear Reg.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6"/>
          <p:cNvSpPr/>
          <p:nvPr/>
        </p:nvSpPr>
        <p:spPr>
          <a:xfrm>
            <a:off x="2084760" y="1956600"/>
            <a:ext cx="1371240" cy="38340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7"/>
          <p:cNvSpPr/>
          <p:nvPr/>
        </p:nvSpPr>
        <p:spPr>
          <a:xfrm>
            <a:off x="2084760" y="1956600"/>
            <a:ext cx="13712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5c5c"/>
                </a:solidFill>
                <a:effectLst/>
                <a:uFillTx/>
                <a:latin typeface="Calibri Light"/>
                <a:ea typeface="Calibri Light"/>
              </a:rPr>
              <a:t>0.31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8"/>
          <p:cNvSpPr/>
          <p:nvPr/>
        </p:nvSpPr>
        <p:spPr>
          <a:xfrm>
            <a:off x="3456360" y="1956600"/>
            <a:ext cx="1554120" cy="38340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9"/>
          <p:cNvSpPr/>
          <p:nvPr/>
        </p:nvSpPr>
        <p:spPr>
          <a:xfrm>
            <a:off x="3456360" y="1956600"/>
            <a:ext cx="1554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b833"/>
                </a:solidFill>
                <a:effectLst/>
                <a:uFillTx/>
                <a:latin typeface="Calibri Light"/>
                <a:ea typeface="Calibri Light"/>
              </a:rPr>
              <a:t>0.43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0"/>
          <p:cNvSpPr/>
          <p:nvPr/>
        </p:nvSpPr>
        <p:spPr>
          <a:xfrm>
            <a:off x="5010840" y="1980000"/>
            <a:ext cx="1188360" cy="36000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21"/>
          <p:cNvSpPr/>
          <p:nvPr/>
        </p:nvSpPr>
        <p:spPr>
          <a:xfrm>
            <a:off x="5010840" y="1800000"/>
            <a:ext cx="1188360" cy="54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Faible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22"/>
          <p:cNvSpPr/>
          <p:nvPr/>
        </p:nvSpPr>
        <p:spPr>
          <a:xfrm>
            <a:off x="6199560" y="1980000"/>
            <a:ext cx="1554120" cy="36000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23"/>
          <p:cNvSpPr/>
          <p:nvPr/>
        </p:nvSpPr>
        <p:spPr>
          <a:xfrm>
            <a:off x="6199560" y="1980000"/>
            <a:ext cx="15541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❌ Insuffisant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24"/>
          <p:cNvSpPr/>
          <p:nvPr/>
        </p:nvSpPr>
        <p:spPr>
          <a:xfrm>
            <a:off x="255960" y="2340000"/>
            <a:ext cx="1828440" cy="3600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25"/>
          <p:cNvSpPr/>
          <p:nvPr/>
        </p:nvSpPr>
        <p:spPr>
          <a:xfrm>
            <a:off x="255960" y="2340000"/>
            <a:ext cx="18284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Random Forest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26"/>
          <p:cNvSpPr/>
          <p:nvPr/>
        </p:nvSpPr>
        <p:spPr>
          <a:xfrm>
            <a:off x="2084760" y="2340000"/>
            <a:ext cx="1371240" cy="3600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27"/>
          <p:cNvSpPr/>
          <p:nvPr/>
        </p:nvSpPr>
        <p:spPr>
          <a:xfrm>
            <a:off x="2084760" y="2340000"/>
            <a:ext cx="1371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5c5c"/>
                </a:solidFill>
                <a:effectLst/>
                <a:uFillTx/>
                <a:latin typeface="Calibri Light"/>
                <a:ea typeface="Calibri Light"/>
              </a:rPr>
              <a:t>0.41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28"/>
          <p:cNvSpPr/>
          <p:nvPr/>
        </p:nvSpPr>
        <p:spPr>
          <a:xfrm>
            <a:off x="3456360" y="2340000"/>
            <a:ext cx="1554120" cy="3600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29"/>
          <p:cNvSpPr/>
          <p:nvPr/>
        </p:nvSpPr>
        <p:spPr>
          <a:xfrm>
            <a:off x="3456360" y="2340000"/>
            <a:ext cx="15541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b833"/>
                </a:solidFill>
                <a:effectLst/>
                <a:uFillTx/>
                <a:latin typeface="Calibri Light"/>
                <a:ea typeface="Calibri Light"/>
              </a:rPr>
              <a:t>0.55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30"/>
          <p:cNvSpPr/>
          <p:nvPr/>
        </p:nvSpPr>
        <p:spPr>
          <a:xfrm>
            <a:off x="5010840" y="2340000"/>
            <a:ext cx="1188360" cy="3600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31"/>
          <p:cNvSpPr/>
          <p:nvPr/>
        </p:nvSpPr>
        <p:spPr>
          <a:xfrm>
            <a:off x="5010840" y="2340000"/>
            <a:ext cx="118836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Moyenne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32"/>
          <p:cNvSpPr/>
          <p:nvPr/>
        </p:nvSpPr>
        <p:spPr>
          <a:xfrm>
            <a:off x="6199560" y="2340000"/>
            <a:ext cx="1554120" cy="360000"/>
          </a:xfrm>
          <a:prstGeom prst="rect">
            <a:avLst/>
          </a:prstGeom>
          <a:solidFill>
            <a:srgbClr val="0d1f14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33"/>
          <p:cNvSpPr/>
          <p:nvPr/>
        </p:nvSpPr>
        <p:spPr>
          <a:xfrm>
            <a:off x="6199560" y="2340000"/>
            <a:ext cx="15541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⚠️ Correct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34"/>
          <p:cNvSpPr/>
          <p:nvPr/>
        </p:nvSpPr>
        <p:spPr>
          <a:xfrm>
            <a:off x="255960" y="2700000"/>
            <a:ext cx="1828440" cy="42948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35"/>
          <p:cNvSpPr/>
          <p:nvPr/>
        </p:nvSpPr>
        <p:spPr>
          <a:xfrm>
            <a:off x="255960" y="2700000"/>
            <a:ext cx="1828440" cy="2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Grad. Boosting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6"/>
          <p:cNvSpPr/>
          <p:nvPr/>
        </p:nvSpPr>
        <p:spPr>
          <a:xfrm>
            <a:off x="2084760" y="2700000"/>
            <a:ext cx="1371240" cy="36000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37"/>
          <p:cNvSpPr/>
          <p:nvPr/>
        </p:nvSpPr>
        <p:spPr>
          <a:xfrm>
            <a:off x="2084760" y="2700000"/>
            <a:ext cx="13712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5c5c"/>
                </a:solidFill>
                <a:effectLst/>
                <a:uFillTx/>
                <a:latin typeface="Calibri Light"/>
                <a:ea typeface="Calibri Light"/>
              </a:rPr>
              <a:t>0.47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38"/>
          <p:cNvSpPr/>
          <p:nvPr/>
        </p:nvSpPr>
        <p:spPr>
          <a:xfrm>
            <a:off x="3456360" y="2700000"/>
            <a:ext cx="1554120" cy="36000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39"/>
          <p:cNvSpPr/>
          <p:nvPr/>
        </p:nvSpPr>
        <p:spPr>
          <a:xfrm>
            <a:off x="3456360" y="2700000"/>
            <a:ext cx="1554120" cy="2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fb833"/>
                </a:solidFill>
                <a:effectLst/>
                <a:uFillTx/>
                <a:latin typeface="Calibri Light"/>
                <a:ea typeface="Calibri Light"/>
              </a:rPr>
              <a:t>0.61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40"/>
          <p:cNvSpPr/>
          <p:nvPr/>
        </p:nvSpPr>
        <p:spPr>
          <a:xfrm>
            <a:off x="5010840" y="2700000"/>
            <a:ext cx="1188360" cy="36000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41"/>
          <p:cNvSpPr/>
          <p:nvPr/>
        </p:nvSpPr>
        <p:spPr>
          <a:xfrm>
            <a:off x="5010840" y="2700000"/>
            <a:ext cx="118836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Haute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42"/>
          <p:cNvSpPr/>
          <p:nvPr/>
        </p:nvSpPr>
        <p:spPr>
          <a:xfrm>
            <a:off x="6199560" y="2700000"/>
            <a:ext cx="1554120" cy="36000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43"/>
          <p:cNvSpPr/>
          <p:nvPr/>
        </p:nvSpPr>
        <p:spPr>
          <a:xfrm>
            <a:off x="6199560" y="2700000"/>
            <a:ext cx="1554120" cy="2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✅ Bon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44"/>
          <p:cNvSpPr/>
          <p:nvPr/>
        </p:nvSpPr>
        <p:spPr>
          <a:xfrm>
            <a:off x="255960" y="3060000"/>
            <a:ext cx="1828440" cy="476280"/>
          </a:xfrm>
          <a:prstGeom prst="rect">
            <a:avLst/>
          </a:prstGeom>
          <a:solidFill>
            <a:srgbClr val="1a3a1a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45"/>
          <p:cNvSpPr/>
          <p:nvPr/>
        </p:nvSpPr>
        <p:spPr>
          <a:xfrm>
            <a:off x="255960" y="3240000"/>
            <a:ext cx="18284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XGBoost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46"/>
          <p:cNvSpPr/>
          <p:nvPr/>
        </p:nvSpPr>
        <p:spPr>
          <a:xfrm>
            <a:off x="2084760" y="3060000"/>
            <a:ext cx="1371240" cy="476280"/>
          </a:xfrm>
          <a:prstGeom prst="rect">
            <a:avLst/>
          </a:prstGeom>
          <a:solidFill>
            <a:srgbClr val="1a3a1a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7"/>
          <p:cNvSpPr/>
          <p:nvPr/>
        </p:nvSpPr>
        <p:spPr>
          <a:xfrm>
            <a:off x="2084760" y="3060000"/>
            <a:ext cx="137124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5c5c"/>
                </a:solidFill>
                <a:effectLst/>
                <a:uFillTx/>
                <a:latin typeface="Calibri Light"/>
                <a:ea typeface="Calibri Light"/>
              </a:rPr>
              <a:t>0.55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48"/>
          <p:cNvSpPr/>
          <p:nvPr/>
        </p:nvSpPr>
        <p:spPr>
          <a:xfrm>
            <a:off x="3456360" y="3060000"/>
            <a:ext cx="1554120" cy="476280"/>
          </a:xfrm>
          <a:prstGeom prst="rect">
            <a:avLst/>
          </a:prstGeom>
          <a:solidFill>
            <a:srgbClr val="1a3a1a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49"/>
          <p:cNvSpPr/>
          <p:nvPr/>
        </p:nvSpPr>
        <p:spPr>
          <a:xfrm>
            <a:off x="3456360" y="3060000"/>
            <a:ext cx="155412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ffb833"/>
                </a:solidFill>
                <a:effectLst/>
                <a:uFillTx/>
                <a:latin typeface="Calibri Light"/>
                <a:ea typeface="Calibri Light"/>
              </a:rPr>
              <a:t>0.67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50"/>
          <p:cNvSpPr/>
          <p:nvPr/>
        </p:nvSpPr>
        <p:spPr>
          <a:xfrm>
            <a:off x="5010840" y="3060000"/>
            <a:ext cx="1188360" cy="476280"/>
          </a:xfrm>
          <a:prstGeom prst="rect">
            <a:avLst/>
          </a:prstGeom>
          <a:solidFill>
            <a:srgbClr val="1a3a1a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51"/>
          <p:cNvSpPr/>
          <p:nvPr/>
        </p:nvSpPr>
        <p:spPr>
          <a:xfrm>
            <a:off x="5010840" y="3240000"/>
            <a:ext cx="118836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Haute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52"/>
          <p:cNvSpPr/>
          <p:nvPr/>
        </p:nvSpPr>
        <p:spPr>
          <a:xfrm>
            <a:off x="6199560" y="3060000"/>
            <a:ext cx="1554120" cy="476280"/>
          </a:xfrm>
          <a:prstGeom prst="rect">
            <a:avLst/>
          </a:prstGeom>
          <a:solidFill>
            <a:srgbClr val="1a3a1a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53"/>
          <p:cNvSpPr/>
          <p:nvPr/>
        </p:nvSpPr>
        <p:spPr>
          <a:xfrm>
            <a:off x="6199560" y="292608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b833"/>
                </a:solidFill>
                <a:effectLst/>
                <a:uFillTx/>
                <a:latin typeface="Calibri Light"/>
                <a:ea typeface="Calibri Light"/>
              </a:rPr>
              <a:t>🏆 RETENU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54"/>
          <p:cNvSpPr/>
          <p:nvPr/>
        </p:nvSpPr>
        <p:spPr>
          <a:xfrm>
            <a:off x="255960" y="3600000"/>
            <a:ext cx="8631720" cy="1401480"/>
          </a:xfrm>
          <a:prstGeom prst="rect">
            <a:avLst/>
          </a:prstGeom>
          <a:solidFill>
            <a:srgbClr val="112318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55"/>
          <p:cNvSpPr/>
          <p:nvPr/>
        </p:nvSpPr>
        <p:spPr>
          <a:xfrm>
            <a:off x="255960" y="3536280"/>
            <a:ext cx="8631720" cy="63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6"/>
          <p:cNvSpPr/>
          <p:nvPr/>
        </p:nvSpPr>
        <p:spPr>
          <a:xfrm>
            <a:off x="384120" y="3600000"/>
            <a:ext cx="365724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Hyperparamètres XGBoost retenus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57"/>
          <p:cNvSpPr/>
          <p:nvPr/>
        </p:nvSpPr>
        <p:spPr>
          <a:xfrm>
            <a:off x="292680" y="3767400"/>
            <a:ext cx="9140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9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3" name="Text 58"/>
          <p:cNvSpPr/>
          <p:nvPr/>
        </p:nvSpPr>
        <p:spPr>
          <a:xfrm>
            <a:off x="1207080" y="3767400"/>
            <a:ext cx="13712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7fa88f"/>
                </a:solidFill>
                <a:effectLst/>
                <a:uFillTx/>
                <a:latin typeface="Consolas"/>
                <a:ea typeface="Consolas"/>
              </a:rPr>
              <a:t>n_estimators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59"/>
          <p:cNvSpPr/>
          <p:nvPr/>
        </p:nvSpPr>
        <p:spPr>
          <a:xfrm>
            <a:off x="2578680" y="3767400"/>
            <a:ext cx="14626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7fa88f"/>
                </a:solidFill>
                <a:effectLst/>
                <a:uFillTx/>
                <a:latin typeface="Consolas"/>
                <a:ea typeface="Consolas"/>
              </a:rPr>
              <a:t>learning_rate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60"/>
          <p:cNvSpPr/>
          <p:nvPr/>
        </p:nvSpPr>
        <p:spPr>
          <a:xfrm>
            <a:off x="4041720" y="3767400"/>
            <a:ext cx="1234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7fa88f"/>
                </a:solidFill>
                <a:effectLst/>
                <a:uFillTx/>
                <a:latin typeface="Consolas"/>
                <a:ea typeface="Consolas"/>
              </a:rPr>
              <a:t>max_depth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61"/>
          <p:cNvSpPr/>
          <p:nvPr/>
        </p:nvSpPr>
        <p:spPr>
          <a:xfrm>
            <a:off x="5276160" y="3767400"/>
            <a:ext cx="1234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7fa88f"/>
                </a:solidFill>
                <a:effectLst/>
                <a:uFillTx/>
                <a:latin typeface="Consolas"/>
                <a:ea typeface="Consolas"/>
              </a:rPr>
              <a:t>subsample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62"/>
          <p:cNvSpPr/>
          <p:nvPr/>
        </p:nvSpPr>
        <p:spPr>
          <a:xfrm>
            <a:off x="6510600" y="3767400"/>
            <a:ext cx="118836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7fa88f"/>
                </a:solidFill>
                <a:effectLst/>
                <a:uFillTx/>
                <a:latin typeface="Consolas"/>
                <a:ea typeface="Consolas"/>
              </a:rPr>
              <a:t>reg_alpha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63"/>
          <p:cNvSpPr/>
          <p:nvPr/>
        </p:nvSpPr>
        <p:spPr>
          <a:xfrm>
            <a:off x="7699320" y="3767400"/>
            <a:ext cx="1225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7fa88f"/>
                </a:solidFill>
                <a:effectLst/>
                <a:uFillTx/>
                <a:latin typeface="Consolas"/>
                <a:ea typeface="Consolas"/>
              </a:rPr>
              <a:t>reg_lambda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64"/>
          <p:cNvSpPr/>
          <p:nvPr/>
        </p:nvSpPr>
        <p:spPr>
          <a:xfrm>
            <a:off x="292680" y="4151520"/>
            <a:ext cx="9140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ff5c5c"/>
                </a:solidFill>
                <a:effectLst/>
                <a:uFillTx/>
                <a:latin typeface="Consolas"/>
                <a:ea typeface="Consolas"/>
              </a:rPr>
              <a:t>CO₂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65"/>
          <p:cNvSpPr/>
          <p:nvPr/>
        </p:nvSpPr>
        <p:spPr>
          <a:xfrm>
            <a:off x="1207080" y="4151520"/>
            <a:ext cx="13712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800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66"/>
          <p:cNvSpPr/>
          <p:nvPr/>
        </p:nvSpPr>
        <p:spPr>
          <a:xfrm>
            <a:off x="2578680" y="4151520"/>
            <a:ext cx="14626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0.03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67"/>
          <p:cNvSpPr/>
          <p:nvPr/>
        </p:nvSpPr>
        <p:spPr>
          <a:xfrm>
            <a:off x="4041720" y="4151520"/>
            <a:ext cx="1234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68"/>
          <p:cNvSpPr/>
          <p:nvPr/>
        </p:nvSpPr>
        <p:spPr>
          <a:xfrm>
            <a:off x="5276160" y="4151520"/>
            <a:ext cx="1234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0.8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69"/>
          <p:cNvSpPr/>
          <p:nvPr/>
        </p:nvSpPr>
        <p:spPr>
          <a:xfrm>
            <a:off x="6510600" y="4151520"/>
            <a:ext cx="118836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0.1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70"/>
          <p:cNvSpPr/>
          <p:nvPr/>
        </p:nvSpPr>
        <p:spPr>
          <a:xfrm>
            <a:off x="7699320" y="4151520"/>
            <a:ext cx="1225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3.0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71"/>
          <p:cNvSpPr/>
          <p:nvPr/>
        </p:nvSpPr>
        <p:spPr>
          <a:xfrm>
            <a:off x="292680" y="4535280"/>
            <a:ext cx="9140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1" u="none" strike="noStrike">
                <a:solidFill>
                  <a:srgbClr val="ffb833"/>
                </a:solidFill>
                <a:effectLst/>
                <a:uFillTx/>
                <a:latin typeface="Consolas"/>
                <a:ea typeface="Consolas"/>
              </a:rPr>
              <a:t>Énergie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72"/>
          <p:cNvSpPr/>
          <p:nvPr/>
        </p:nvSpPr>
        <p:spPr>
          <a:xfrm>
            <a:off x="1207080" y="4535280"/>
            <a:ext cx="13712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600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73"/>
          <p:cNvSpPr/>
          <p:nvPr/>
        </p:nvSpPr>
        <p:spPr>
          <a:xfrm>
            <a:off x="2578680" y="4535280"/>
            <a:ext cx="14626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0.01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74"/>
          <p:cNvSpPr/>
          <p:nvPr/>
        </p:nvSpPr>
        <p:spPr>
          <a:xfrm>
            <a:off x="4041720" y="4535280"/>
            <a:ext cx="1234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75"/>
          <p:cNvSpPr/>
          <p:nvPr/>
        </p:nvSpPr>
        <p:spPr>
          <a:xfrm>
            <a:off x="5276160" y="4535280"/>
            <a:ext cx="1234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0.8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76"/>
          <p:cNvSpPr/>
          <p:nvPr/>
        </p:nvSpPr>
        <p:spPr>
          <a:xfrm>
            <a:off x="6510600" y="4535280"/>
            <a:ext cx="118836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0.5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77"/>
          <p:cNvSpPr/>
          <p:nvPr/>
        </p:nvSpPr>
        <p:spPr>
          <a:xfrm>
            <a:off x="7699320" y="4535280"/>
            <a:ext cx="122508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e8f5ee"/>
                </a:solidFill>
                <a:effectLst/>
                <a:uFillTx/>
                <a:latin typeface="Consolas"/>
                <a:ea typeface="Consolas"/>
              </a:rPr>
              <a:t>1.0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dissolve/>
      </p:transition>
    </mc:Choice>
    <mc:Fallback>
      <p:transition spd="slow">
        <p:dissolv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VALIDATION RIGOUREUSE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c896"/>
                </a:solidFill>
                <a:effectLst/>
                <a:uFillTx/>
                <a:latin typeface="Calibri Light"/>
                <a:ea typeface="Calibri Light"/>
              </a:rPr>
              <a:t>Pipeline anti-leakage · Cross-validation 5-fold · Généralisation garantie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4"/>
          <p:cNvSpPr/>
          <p:nvPr/>
        </p:nvSpPr>
        <p:spPr>
          <a:xfrm>
            <a:off x="255960" y="1115640"/>
            <a:ext cx="1627200" cy="5025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"/>
          <p:cNvSpPr/>
          <p:nvPr/>
        </p:nvSpPr>
        <p:spPr>
          <a:xfrm>
            <a:off x="255960" y="1115640"/>
            <a:ext cx="1627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Fold 1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6"/>
          <p:cNvSpPr/>
          <p:nvPr/>
        </p:nvSpPr>
        <p:spPr>
          <a:xfrm>
            <a:off x="2011680" y="1115640"/>
            <a:ext cx="1627200" cy="5025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7"/>
          <p:cNvSpPr/>
          <p:nvPr/>
        </p:nvSpPr>
        <p:spPr>
          <a:xfrm>
            <a:off x="2011680" y="1115640"/>
            <a:ext cx="1627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Fold 2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8"/>
          <p:cNvSpPr/>
          <p:nvPr/>
        </p:nvSpPr>
        <p:spPr>
          <a:xfrm>
            <a:off x="3767400" y="1115640"/>
            <a:ext cx="1627200" cy="50256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9"/>
          <p:cNvSpPr/>
          <p:nvPr/>
        </p:nvSpPr>
        <p:spPr>
          <a:xfrm>
            <a:off x="3767400" y="1115640"/>
            <a:ext cx="1627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Fold 3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10"/>
          <p:cNvSpPr/>
          <p:nvPr/>
        </p:nvSpPr>
        <p:spPr>
          <a:xfrm>
            <a:off x="5523120" y="1115640"/>
            <a:ext cx="1627200" cy="50256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1"/>
          <p:cNvSpPr/>
          <p:nvPr/>
        </p:nvSpPr>
        <p:spPr>
          <a:xfrm>
            <a:off x="5523120" y="1115640"/>
            <a:ext cx="1627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Fold 4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12"/>
          <p:cNvSpPr/>
          <p:nvPr/>
        </p:nvSpPr>
        <p:spPr>
          <a:xfrm>
            <a:off x="7278480" y="1115640"/>
            <a:ext cx="1627200" cy="502560"/>
          </a:xfrm>
          <a:prstGeom prst="rect">
            <a:avLst/>
          </a:prstGeom>
          <a:solidFill>
            <a:srgbClr val="b388ff"/>
          </a:solidFill>
          <a:ln w="12700">
            <a:solidFill>
              <a:srgbClr val="b38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3"/>
          <p:cNvSpPr/>
          <p:nvPr/>
        </p:nvSpPr>
        <p:spPr>
          <a:xfrm>
            <a:off x="7278480" y="1115640"/>
            <a:ext cx="1627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Fold 5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4"/>
          <p:cNvSpPr/>
          <p:nvPr/>
        </p:nvSpPr>
        <p:spPr>
          <a:xfrm>
            <a:off x="255960" y="1691640"/>
            <a:ext cx="8631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Chaque fold joue le rôle de test à tour de rôle — le modèle ne voit jamais ses propres données de validation.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15"/>
          <p:cNvSpPr/>
          <p:nvPr/>
        </p:nvSpPr>
        <p:spPr>
          <a:xfrm>
            <a:off x="255960" y="2121480"/>
            <a:ext cx="4160160" cy="11426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16"/>
          <p:cNvSpPr/>
          <p:nvPr/>
        </p:nvSpPr>
        <p:spPr>
          <a:xfrm>
            <a:off x="255960" y="2121480"/>
            <a:ext cx="63720" cy="114264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17"/>
          <p:cNvSpPr/>
          <p:nvPr/>
        </p:nvSpPr>
        <p:spPr>
          <a:xfrm>
            <a:off x="420480" y="2368440"/>
            <a:ext cx="639720" cy="63972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1" name="Image 0" descr="preencoded.png"/>
          <p:cNvPicPr/>
          <p:nvPr/>
        </p:nvPicPr>
        <p:blipFill>
          <a:blip r:embed="rId1"/>
          <a:stretch/>
        </p:blipFill>
        <p:spPr>
          <a:xfrm>
            <a:off x="521280" y="245988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Text 18"/>
          <p:cNvSpPr/>
          <p:nvPr/>
        </p:nvSpPr>
        <p:spPr>
          <a:xfrm>
            <a:off x="1188720" y="221292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Filtrage en amont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19"/>
          <p:cNvSpPr/>
          <p:nvPr/>
        </p:nvSpPr>
        <p:spPr>
          <a:xfrm>
            <a:off x="1188720" y="2578680"/>
            <a:ext cx="3108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Outliers et bâtiments résidentiels supprimés avant tout split train/test — aucun biais induit.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20"/>
          <p:cNvSpPr/>
          <p:nvPr/>
        </p:nvSpPr>
        <p:spPr>
          <a:xfrm>
            <a:off x="4626720" y="2121480"/>
            <a:ext cx="4160160" cy="11426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21"/>
          <p:cNvSpPr/>
          <p:nvPr/>
        </p:nvSpPr>
        <p:spPr>
          <a:xfrm>
            <a:off x="4626720" y="2121480"/>
            <a:ext cx="63720" cy="114264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22"/>
          <p:cNvSpPr/>
          <p:nvPr/>
        </p:nvSpPr>
        <p:spPr>
          <a:xfrm>
            <a:off x="4791600" y="2368440"/>
            <a:ext cx="639720" cy="63972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7" name="Image 1" descr="preencoded.png"/>
          <p:cNvPicPr/>
          <p:nvPr/>
        </p:nvPicPr>
        <p:blipFill>
          <a:blip r:embed="rId2"/>
          <a:stretch/>
        </p:blipFill>
        <p:spPr>
          <a:xfrm>
            <a:off x="4892040" y="245988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Text 23"/>
          <p:cNvSpPr/>
          <p:nvPr/>
        </p:nvSpPr>
        <p:spPr>
          <a:xfrm>
            <a:off x="5559480" y="221292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Imputation sur Train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24"/>
          <p:cNvSpPr/>
          <p:nvPr/>
        </p:nvSpPr>
        <p:spPr>
          <a:xfrm>
            <a:off x="5559480" y="2578680"/>
            <a:ext cx="3108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SimpleImputer(médiane) fitté uniquement sur X_train — jamais de fuite d'information vers le test.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25"/>
          <p:cNvSpPr/>
          <p:nvPr/>
        </p:nvSpPr>
        <p:spPr>
          <a:xfrm>
            <a:off x="255960" y="3420000"/>
            <a:ext cx="4160160" cy="11426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26"/>
          <p:cNvSpPr/>
          <p:nvPr/>
        </p:nvSpPr>
        <p:spPr>
          <a:xfrm>
            <a:off x="255960" y="3420000"/>
            <a:ext cx="63720" cy="114264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27"/>
          <p:cNvSpPr/>
          <p:nvPr/>
        </p:nvSpPr>
        <p:spPr>
          <a:xfrm>
            <a:off x="420480" y="3666600"/>
            <a:ext cx="639720" cy="63972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3" name="Image 2" descr="preencoded.png"/>
          <p:cNvPicPr/>
          <p:nvPr/>
        </p:nvPicPr>
        <p:blipFill>
          <a:blip r:embed="rId3"/>
          <a:stretch/>
        </p:blipFill>
        <p:spPr>
          <a:xfrm>
            <a:off x="521280" y="375804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Text 28"/>
          <p:cNvSpPr/>
          <p:nvPr/>
        </p:nvSpPr>
        <p:spPr>
          <a:xfrm>
            <a:off x="1188720" y="351144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Target transformée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29"/>
          <p:cNvSpPr/>
          <p:nvPr/>
        </p:nvSpPr>
        <p:spPr>
          <a:xfrm>
            <a:off x="1188720" y="3877200"/>
            <a:ext cx="3108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log1p(y) cohérent train/test — reconversion expm1 pour les métriques réelles.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30"/>
          <p:cNvSpPr/>
          <p:nvPr/>
        </p:nvSpPr>
        <p:spPr>
          <a:xfrm>
            <a:off x="4626720" y="3420000"/>
            <a:ext cx="4160160" cy="114264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31"/>
          <p:cNvSpPr/>
          <p:nvPr/>
        </p:nvSpPr>
        <p:spPr>
          <a:xfrm>
            <a:off x="4626720" y="3420000"/>
            <a:ext cx="63720" cy="114264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32"/>
          <p:cNvSpPr/>
          <p:nvPr/>
        </p:nvSpPr>
        <p:spPr>
          <a:xfrm>
            <a:off x="4791600" y="3666600"/>
            <a:ext cx="639720" cy="639720"/>
          </a:xfrm>
          <a:prstGeom prst="ellipse">
            <a:avLst/>
          </a:prstGeom>
          <a:solidFill>
            <a:srgbClr val="080f0a"/>
          </a:solidFill>
          <a:ln w="254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9" name="Image 3" descr="preencoded.png"/>
          <p:cNvPicPr/>
          <p:nvPr/>
        </p:nvPicPr>
        <p:blipFill>
          <a:blip r:embed="rId4"/>
          <a:stretch/>
        </p:blipFill>
        <p:spPr>
          <a:xfrm>
            <a:off x="4892040" y="375804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 33"/>
          <p:cNvSpPr/>
          <p:nvPr/>
        </p:nvSpPr>
        <p:spPr>
          <a:xfrm>
            <a:off x="5559480" y="351144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relevés futurs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34"/>
          <p:cNvSpPr/>
          <p:nvPr/>
        </p:nvSpPr>
        <p:spPr>
          <a:xfrm>
            <a:off x="5559480" y="3877200"/>
            <a:ext cx="3108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Seules les variables structurelles du bâtiment sont utilisées — zéro donnée de conso dans les features.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wedge/>
      </p:transition>
    </mc:Choice>
    <mc:Fallback>
      <p:transition spd="slow">
        <p:wedg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f14"/>
          </a:solidFill>
          <a:ln w="12700">
            <a:solidFill>
              <a:srgbClr val="0d1f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1"/>
          <p:cNvSpPr/>
          <p:nvPr/>
        </p:nvSpPr>
        <p:spPr>
          <a:xfrm>
            <a:off x="0" y="0"/>
            <a:ext cx="82080" cy="9597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2"/>
          <p:cNvSpPr/>
          <p:nvPr/>
        </p:nvSpPr>
        <p:spPr>
          <a:xfrm>
            <a:off x="255960" y="54720"/>
            <a:ext cx="8686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VISION &amp; ROADMAP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3"/>
          <p:cNvSpPr/>
          <p:nvPr/>
        </p:nvSpPr>
        <p:spPr>
          <a:xfrm>
            <a:off x="255960" y="548640"/>
            <a:ext cx="868644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00c896"/>
                </a:solidFill>
                <a:effectLst/>
                <a:uFillTx/>
                <a:latin typeface="Calibri Light"/>
                <a:ea typeface="Calibri Light"/>
              </a:rPr>
              <a:t>De Seattle à Lomé — 3 phases vers l'industrialisation SaaS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4"/>
          <p:cNvSpPr/>
          <p:nvPr/>
        </p:nvSpPr>
        <p:spPr>
          <a:xfrm>
            <a:off x="457200" y="2377440"/>
            <a:ext cx="8229600" cy="360"/>
          </a:xfrm>
          <a:prstGeom prst="line">
            <a:avLst/>
          </a:prstGeom>
          <a:ln w="254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5"/>
          <p:cNvSpPr/>
          <p:nvPr/>
        </p:nvSpPr>
        <p:spPr>
          <a:xfrm>
            <a:off x="1307520" y="2240280"/>
            <a:ext cx="273960" cy="273960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6"/>
          <p:cNvSpPr/>
          <p:nvPr/>
        </p:nvSpPr>
        <p:spPr>
          <a:xfrm>
            <a:off x="255960" y="1051560"/>
            <a:ext cx="2779560" cy="1206720"/>
          </a:xfrm>
          <a:prstGeom prst="rect">
            <a:avLst/>
          </a:prstGeom>
          <a:solidFill>
            <a:srgbClr val="112318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7"/>
          <p:cNvSpPr/>
          <p:nvPr/>
        </p:nvSpPr>
        <p:spPr>
          <a:xfrm>
            <a:off x="255960" y="1051560"/>
            <a:ext cx="2779560" cy="63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8"/>
          <p:cNvSpPr/>
          <p:nvPr/>
        </p:nvSpPr>
        <p:spPr>
          <a:xfrm>
            <a:off x="329040" y="1161360"/>
            <a:ext cx="1096920" cy="273960"/>
          </a:xfrm>
          <a:prstGeom prst="roundRect">
            <a:avLst>
              <a:gd name="adj" fmla="val 20000"/>
            </a:avLst>
          </a:prstGeom>
          <a:solidFill>
            <a:srgbClr val="00c896">
              <a:alpha val="70000"/>
            </a:srgbClr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9"/>
          <p:cNvSpPr/>
          <p:nvPr/>
        </p:nvSpPr>
        <p:spPr>
          <a:xfrm>
            <a:off x="329040" y="11613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EN COURS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10"/>
          <p:cNvSpPr/>
          <p:nvPr/>
        </p:nvSpPr>
        <p:spPr>
          <a:xfrm>
            <a:off x="1719000" y="1115640"/>
            <a:ext cx="1206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00c896"/>
                </a:solidFill>
                <a:effectLst/>
                <a:uFillTx/>
                <a:latin typeface="Arial Black"/>
                <a:ea typeface="Arial Black"/>
              </a:rPr>
              <a:t>01</a:t>
            </a:r>
            <a:endParaRPr lang="fr-F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3" name="Image 0" descr="preencoded.png"/>
          <p:cNvPicPr/>
          <p:nvPr/>
        </p:nvPicPr>
        <p:blipFill>
          <a:blip r:embed="rId1"/>
          <a:stretch/>
        </p:blipFill>
        <p:spPr>
          <a:xfrm>
            <a:off x="1325880" y="1527120"/>
            <a:ext cx="594000" cy="59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4" name="Text 11"/>
          <p:cNvSpPr/>
          <p:nvPr/>
        </p:nvSpPr>
        <p:spPr>
          <a:xfrm>
            <a:off x="329040" y="26060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Actuel · Seattle 2016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12"/>
          <p:cNvSpPr/>
          <p:nvPr/>
        </p:nvSpPr>
        <p:spPr>
          <a:xfrm>
            <a:off x="255960" y="2926080"/>
            <a:ext cx="2779560" cy="20113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3"/>
          <p:cNvSpPr/>
          <p:nvPr/>
        </p:nvSpPr>
        <p:spPr>
          <a:xfrm>
            <a:off x="347400" y="2971800"/>
            <a:ext cx="2596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 Académique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1" descr="preencoded.png"/>
          <p:cNvPicPr/>
          <p:nvPr/>
        </p:nvPicPr>
        <p:blipFill>
          <a:blip r:embed="rId2"/>
          <a:stretch/>
        </p:blipFill>
        <p:spPr>
          <a:xfrm>
            <a:off x="347400" y="341064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Text 14"/>
          <p:cNvSpPr/>
          <p:nvPr/>
        </p:nvSpPr>
        <p:spPr>
          <a:xfrm>
            <a:off x="621720" y="339228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XGBoost testé et retenu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9" name="Image 2" descr="preencoded.png"/>
          <p:cNvPicPr/>
          <p:nvPr/>
        </p:nvPicPr>
        <p:blipFill>
          <a:blip r:embed="rId3"/>
          <a:stretch/>
        </p:blipFill>
        <p:spPr>
          <a:xfrm>
            <a:off x="347400" y="388620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0" name="Text 15"/>
          <p:cNvSpPr/>
          <p:nvPr/>
        </p:nvSpPr>
        <p:spPr>
          <a:xfrm>
            <a:off x="621720" y="38678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2 modèles : CO₂ + Énergie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1" name="Image 3" descr="preencoded.png"/>
          <p:cNvPicPr/>
          <p:nvPr/>
        </p:nvPicPr>
        <p:blipFill>
          <a:blip r:embed="rId4"/>
          <a:stretch/>
        </p:blipFill>
        <p:spPr>
          <a:xfrm>
            <a:off x="347400" y="436176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2" name="Text 16"/>
          <p:cNvSpPr/>
          <p:nvPr/>
        </p:nvSpPr>
        <p:spPr>
          <a:xfrm>
            <a:off x="621720" y="434340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Pipeline anti-leakage validé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17"/>
          <p:cNvSpPr/>
          <p:nvPr/>
        </p:nvSpPr>
        <p:spPr>
          <a:xfrm>
            <a:off x="4233600" y="2240280"/>
            <a:ext cx="273960" cy="273960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18"/>
          <p:cNvSpPr/>
          <p:nvPr/>
        </p:nvSpPr>
        <p:spPr>
          <a:xfrm>
            <a:off x="3182040" y="1051560"/>
            <a:ext cx="2779560" cy="1206720"/>
          </a:xfrm>
          <a:prstGeom prst="rect">
            <a:avLst/>
          </a:prstGeom>
          <a:solidFill>
            <a:srgbClr val="112318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9"/>
          <p:cNvSpPr/>
          <p:nvPr/>
        </p:nvSpPr>
        <p:spPr>
          <a:xfrm>
            <a:off x="3182040" y="1051560"/>
            <a:ext cx="2779560" cy="63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20"/>
          <p:cNvSpPr/>
          <p:nvPr/>
        </p:nvSpPr>
        <p:spPr>
          <a:xfrm>
            <a:off x="3255120" y="1161360"/>
            <a:ext cx="1096920" cy="273960"/>
          </a:xfrm>
          <a:prstGeom prst="roundRect">
            <a:avLst>
              <a:gd name="adj" fmla="val 20000"/>
            </a:avLst>
          </a:prstGeom>
          <a:solidFill>
            <a:srgbClr val="4fc3f7">
              <a:alpha val="70000"/>
            </a:srgbClr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21"/>
          <p:cNvSpPr/>
          <p:nvPr/>
        </p:nvSpPr>
        <p:spPr>
          <a:xfrm>
            <a:off x="3255120" y="11613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PLANIFIÉ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22"/>
          <p:cNvSpPr/>
          <p:nvPr/>
        </p:nvSpPr>
        <p:spPr>
          <a:xfrm>
            <a:off x="4645080" y="1115640"/>
            <a:ext cx="1206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4fc3f7"/>
                </a:solidFill>
                <a:effectLst/>
                <a:uFillTx/>
                <a:latin typeface="Arial Black"/>
                <a:ea typeface="Arial Black"/>
              </a:rPr>
              <a:t>02</a:t>
            </a:r>
            <a:endParaRPr lang="fr-F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9" name="Image 4" descr="preencoded.png"/>
          <p:cNvPicPr/>
          <p:nvPr/>
        </p:nvPicPr>
        <p:blipFill>
          <a:blip r:embed="rId5"/>
          <a:stretch/>
        </p:blipFill>
        <p:spPr>
          <a:xfrm>
            <a:off x="4251960" y="1527120"/>
            <a:ext cx="594000" cy="59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0" name="Text 23"/>
          <p:cNvSpPr/>
          <p:nvPr/>
        </p:nvSpPr>
        <p:spPr>
          <a:xfrm>
            <a:off x="3255120" y="26060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fc3f7"/>
                </a:solidFill>
                <a:effectLst/>
                <a:uFillTx/>
                <a:latin typeface="Calibri"/>
                <a:ea typeface="Calibri"/>
              </a:rPr>
              <a:t>Phase suivante · Lomé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24"/>
          <p:cNvSpPr/>
          <p:nvPr/>
        </p:nvSpPr>
        <p:spPr>
          <a:xfrm>
            <a:off x="3182040" y="2926080"/>
            <a:ext cx="2779560" cy="20113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25"/>
          <p:cNvSpPr/>
          <p:nvPr/>
        </p:nvSpPr>
        <p:spPr>
          <a:xfrm>
            <a:off x="3273480" y="2971800"/>
            <a:ext cx="2596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Proof of Concept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3" name="Image 5" descr="preencoded.png"/>
          <p:cNvPicPr/>
          <p:nvPr/>
        </p:nvPicPr>
        <p:blipFill>
          <a:blip r:embed="rId6"/>
          <a:stretch/>
        </p:blipFill>
        <p:spPr>
          <a:xfrm>
            <a:off x="3273480" y="341064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4" name="Text 26"/>
          <p:cNvSpPr/>
          <p:nvPr/>
        </p:nvSpPr>
        <p:spPr>
          <a:xfrm>
            <a:off x="3547800" y="339228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Collecte locale : hôtels, écoles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5" name="Image 6" descr="preencoded.png"/>
          <p:cNvPicPr/>
          <p:nvPr/>
        </p:nvPicPr>
        <p:blipFill>
          <a:blip r:embed="rId7"/>
          <a:stretch/>
        </p:blipFill>
        <p:spPr>
          <a:xfrm>
            <a:off x="3273480" y="388620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Text 27"/>
          <p:cNvSpPr/>
          <p:nvPr/>
        </p:nvSpPr>
        <p:spPr>
          <a:xfrm>
            <a:off x="3547800" y="38678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Calibration du modèle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7" name="Image 7" descr="preencoded.png"/>
          <p:cNvPicPr/>
          <p:nvPr/>
        </p:nvPicPr>
        <p:blipFill>
          <a:blip r:embed="rId8"/>
          <a:stretch/>
        </p:blipFill>
        <p:spPr>
          <a:xfrm>
            <a:off x="3273480" y="436176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8" name="Text 28"/>
          <p:cNvSpPr/>
          <p:nvPr/>
        </p:nvSpPr>
        <p:spPr>
          <a:xfrm>
            <a:off x="3547800" y="434340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Partenariat CEET &amp; Ministères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9"/>
          <p:cNvSpPr/>
          <p:nvPr/>
        </p:nvSpPr>
        <p:spPr>
          <a:xfrm>
            <a:off x="7159680" y="2240280"/>
            <a:ext cx="273960" cy="273960"/>
          </a:xfrm>
          <a:prstGeom prst="ellipse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30"/>
          <p:cNvSpPr/>
          <p:nvPr/>
        </p:nvSpPr>
        <p:spPr>
          <a:xfrm>
            <a:off x="6108120" y="1051560"/>
            <a:ext cx="2779560" cy="1206720"/>
          </a:xfrm>
          <a:prstGeom prst="rect">
            <a:avLst/>
          </a:prstGeom>
          <a:solidFill>
            <a:srgbClr val="112318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31"/>
          <p:cNvSpPr/>
          <p:nvPr/>
        </p:nvSpPr>
        <p:spPr>
          <a:xfrm>
            <a:off x="6108120" y="1051560"/>
            <a:ext cx="2779560" cy="6372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32"/>
          <p:cNvSpPr/>
          <p:nvPr/>
        </p:nvSpPr>
        <p:spPr>
          <a:xfrm>
            <a:off x="6181200" y="1161360"/>
            <a:ext cx="1096920" cy="273960"/>
          </a:xfrm>
          <a:prstGeom prst="roundRect">
            <a:avLst>
              <a:gd name="adj" fmla="val 20000"/>
            </a:avLst>
          </a:prstGeom>
          <a:solidFill>
            <a:srgbClr val="ffb833">
              <a:alpha val="70000"/>
            </a:srgbClr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3"/>
          <p:cNvSpPr/>
          <p:nvPr/>
        </p:nvSpPr>
        <p:spPr>
          <a:xfrm>
            <a:off x="6181200" y="11613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VISION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4"/>
          <p:cNvSpPr/>
          <p:nvPr/>
        </p:nvSpPr>
        <p:spPr>
          <a:xfrm>
            <a:off x="7571160" y="1115640"/>
            <a:ext cx="1206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b833"/>
                </a:solidFill>
                <a:effectLst/>
                <a:uFillTx/>
                <a:latin typeface="Arial Black"/>
                <a:ea typeface="Arial Black"/>
              </a:rPr>
              <a:t>03</a:t>
            </a:r>
            <a:endParaRPr lang="fr-F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5" name="Image 8" descr="preencoded.png"/>
          <p:cNvPicPr/>
          <p:nvPr/>
        </p:nvPicPr>
        <p:blipFill>
          <a:blip r:embed="rId9"/>
          <a:stretch/>
        </p:blipFill>
        <p:spPr>
          <a:xfrm>
            <a:off x="7178040" y="1527120"/>
            <a:ext cx="594000" cy="59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Text 35"/>
          <p:cNvSpPr/>
          <p:nvPr/>
        </p:nvSpPr>
        <p:spPr>
          <a:xfrm>
            <a:off x="6181200" y="26060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ffb833"/>
                </a:solidFill>
                <a:effectLst/>
                <a:uFillTx/>
                <a:latin typeface="Calibri"/>
                <a:ea typeface="Calibri"/>
              </a:rPr>
              <a:t>Vision · SaaS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36"/>
          <p:cNvSpPr/>
          <p:nvPr/>
        </p:nvSpPr>
        <p:spPr>
          <a:xfrm>
            <a:off x="6108120" y="2926080"/>
            <a:ext cx="2779560" cy="2011320"/>
          </a:xfrm>
          <a:prstGeom prst="rect">
            <a:avLst/>
          </a:prstGeom>
          <a:solidFill>
            <a:srgbClr val="112318"/>
          </a:solidFill>
          <a:ln w="12700">
            <a:solidFill>
              <a:srgbClr val="1c42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37"/>
          <p:cNvSpPr/>
          <p:nvPr/>
        </p:nvSpPr>
        <p:spPr>
          <a:xfrm>
            <a:off x="6199560" y="2971800"/>
            <a:ext cx="2596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Industrialisation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9" descr="preencoded.png"/>
          <p:cNvPicPr/>
          <p:nvPr/>
        </p:nvPicPr>
        <p:blipFill>
          <a:blip r:embed="rId10"/>
          <a:stretch/>
        </p:blipFill>
        <p:spPr>
          <a:xfrm>
            <a:off x="6199560" y="341064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38"/>
          <p:cNvSpPr/>
          <p:nvPr/>
        </p:nvSpPr>
        <p:spPr>
          <a:xfrm>
            <a:off x="6473880" y="339228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Plateforme SaaS municipalités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1" name="Image 10" descr="preencoded.png"/>
          <p:cNvPicPr/>
          <p:nvPr/>
        </p:nvPicPr>
        <p:blipFill>
          <a:blip r:embed="rId11"/>
          <a:stretch/>
        </p:blipFill>
        <p:spPr>
          <a:xfrm>
            <a:off x="6199560" y="388620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Text 39"/>
          <p:cNvSpPr/>
          <p:nvPr/>
        </p:nvSpPr>
        <p:spPr>
          <a:xfrm>
            <a:off x="6473880" y="38678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API promoteurs immobiliers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3" name="Image 11" descr="preencoded.png"/>
          <p:cNvPicPr/>
          <p:nvPr/>
        </p:nvPicPr>
        <p:blipFill>
          <a:blip r:embed="rId12"/>
          <a:stretch/>
        </p:blipFill>
        <p:spPr>
          <a:xfrm>
            <a:off x="6199560" y="4361760"/>
            <a:ext cx="228240" cy="22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Text 40"/>
          <p:cNvSpPr/>
          <p:nvPr/>
        </p:nvSpPr>
        <p:spPr>
          <a:xfrm>
            <a:off x="6473880" y="434340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e8f5ee"/>
                </a:solidFill>
                <a:effectLst/>
                <a:uFillTx/>
                <a:latin typeface="Calibri Light"/>
                <a:ea typeface="Calibri Light"/>
              </a:rPr>
              <a:t>Dashboard investissements verts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random/>
      </p:transition>
    </mc:Choice>
    <mc:Fallback>
      <p:transition spd="slow">
        <p:random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0"/>
          <p:cNvSpPr/>
          <p:nvPr/>
        </p:nvSpPr>
        <p:spPr>
          <a:xfrm>
            <a:off x="-731520" y="3200400"/>
            <a:ext cx="4114440" cy="4114440"/>
          </a:xfrm>
          <a:prstGeom prst="ellipse">
            <a:avLst/>
          </a:prstGeom>
          <a:solidFill>
            <a:srgbClr val="0d2e1a">
              <a:alpha val="35000"/>
            </a:srgbClr>
          </a:solidFill>
          <a:ln w="12700">
            <a:solidFill>
              <a:srgbClr val="0d2e1a">
                <a:alpha val="3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1"/>
          <p:cNvSpPr/>
          <p:nvPr/>
        </p:nvSpPr>
        <p:spPr>
          <a:xfrm>
            <a:off x="6858000" y="-1097280"/>
            <a:ext cx="3474360" cy="3474360"/>
          </a:xfrm>
          <a:prstGeom prst="ellipse">
            <a:avLst/>
          </a:prstGeom>
          <a:solidFill>
            <a:srgbClr val="00c896">
              <a:alpha val="18000"/>
            </a:srgbClr>
          </a:solidFill>
          <a:ln w="12700">
            <a:solidFill>
              <a:srgbClr val="00c896">
                <a:alpha val="1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2"/>
          <p:cNvSpPr/>
          <p:nvPr/>
        </p:nvSpPr>
        <p:spPr>
          <a:xfrm>
            <a:off x="0" y="0"/>
            <a:ext cx="82080" cy="51433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0" descr="preencoded.png"/>
          <p:cNvPicPr/>
          <p:nvPr/>
        </p:nvPicPr>
        <p:blipFill>
          <a:blip r:embed="rId1"/>
          <a:stretch/>
        </p:blipFill>
        <p:spPr>
          <a:xfrm>
            <a:off x="255960" y="32004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Text 3"/>
          <p:cNvSpPr/>
          <p:nvPr/>
        </p:nvSpPr>
        <p:spPr>
          <a:xfrm>
            <a:off x="1024200" y="393120"/>
            <a:ext cx="4571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c896"/>
                </a:solidFill>
                <a:effectLst/>
                <a:uFillTx/>
                <a:latin typeface="Calibri"/>
                <a:ea typeface="Calibri"/>
              </a:rPr>
              <a:t>EnergiSight · GreenSight Lomé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4"/>
          <p:cNvSpPr/>
          <p:nvPr/>
        </p:nvSpPr>
        <p:spPr>
          <a:xfrm>
            <a:off x="1024200" y="731520"/>
            <a:ext cx="4571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fa88f"/>
                </a:solidFill>
                <a:effectLst/>
                <a:uFillTx/>
                <a:latin typeface="Calibri Light"/>
                <a:ea typeface="Calibri Light"/>
              </a:rPr>
              <a:t>Programme D-CLIC · OIF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5"/>
          <p:cNvSpPr/>
          <p:nvPr/>
        </p:nvSpPr>
        <p:spPr>
          <a:xfrm>
            <a:off x="228600" y="1097280"/>
            <a:ext cx="86864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L'IA au service</a:t>
            </a:r>
            <a:endParaRPr lang="fr-FR" sz="5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000" b="1" u="none" strike="noStrike">
                <a:solidFill>
                  <a:srgbClr val="ffffff"/>
                </a:solidFill>
                <a:effectLst/>
                <a:uFillTx/>
                <a:latin typeface="Arial Black"/>
                <a:ea typeface="Arial Black"/>
              </a:rPr>
              <a:t>du climat urbain</a:t>
            </a:r>
            <a:endParaRPr lang="fr-FR" sz="5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6"/>
          <p:cNvSpPr/>
          <p:nvPr/>
        </p:nvSpPr>
        <p:spPr>
          <a:xfrm>
            <a:off x="228600" y="2670120"/>
            <a:ext cx="8686440" cy="438480"/>
          </a:xfrm>
          <a:prstGeom prst="rect">
            <a:avLst/>
          </a:prstGeom>
          <a:solidFill>
            <a:srgbClr val="112318"/>
          </a:solidFill>
          <a:ln w="635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7"/>
          <p:cNvSpPr/>
          <p:nvPr/>
        </p:nvSpPr>
        <p:spPr>
          <a:xfrm>
            <a:off x="228600" y="2670120"/>
            <a:ext cx="63720" cy="438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Image 1" descr="preencoded.png"/>
          <p:cNvPicPr/>
          <p:nvPr/>
        </p:nvPicPr>
        <p:blipFill>
          <a:blip r:embed="rId2"/>
          <a:stretch/>
        </p:blipFill>
        <p:spPr>
          <a:xfrm>
            <a:off x="365760" y="27064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Text 8"/>
          <p:cNvSpPr/>
          <p:nvPr/>
        </p:nvSpPr>
        <p:spPr>
          <a:xfrm>
            <a:off x="777240" y="2688480"/>
            <a:ext cx="8046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 modèles testés : Linear Reg. · Random Forest · Gradient Boosting · XGBoost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9"/>
          <p:cNvSpPr/>
          <p:nvPr/>
        </p:nvSpPr>
        <p:spPr>
          <a:xfrm>
            <a:off x="228600" y="3163680"/>
            <a:ext cx="8686440" cy="438480"/>
          </a:xfrm>
          <a:prstGeom prst="rect">
            <a:avLst/>
          </a:prstGeom>
          <a:solidFill>
            <a:srgbClr val="112318"/>
          </a:solidFill>
          <a:ln w="635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10"/>
          <p:cNvSpPr/>
          <p:nvPr/>
        </p:nvSpPr>
        <p:spPr>
          <a:xfrm>
            <a:off x="228600" y="3163680"/>
            <a:ext cx="63720" cy="438480"/>
          </a:xfrm>
          <a:prstGeom prst="rect">
            <a:avLst/>
          </a:prstGeom>
          <a:solidFill>
            <a:srgbClr val="ffb833"/>
          </a:solidFill>
          <a:ln w="12700">
            <a:solidFill>
              <a:srgbClr val="ffb8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8" name="Image 2" descr="preencoded.png"/>
          <p:cNvPicPr/>
          <p:nvPr/>
        </p:nvPicPr>
        <p:blipFill>
          <a:blip r:embed="rId3"/>
          <a:stretch/>
        </p:blipFill>
        <p:spPr>
          <a:xfrm>
            <a:off x="365760" y="32004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9" name="Text 11"/>
          <p:cNvSpPr/>
          <p:nvPr/>
        </p:nvSpPr>
        <p:spPr>
          <a:xfrm>
            <a:off x="777240" y="3182040"/>
            <a:ext cx="8046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XGBoost retenu — meilleurs scores R² sur les deux cibles (CO₂ et Énergie)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2"/>
          <p:cNvSpPr/>
          <p:nvPr/>
        </p:nvSpPr>
        <p:spPr>
          <a:xfrm>
            <a:off x="228600" y="3657600"/>
            <a:ext cx="8686440" cy="438480"/>
          </a:xfrm>
          <a:prstGeom prst="rect">
            <a:avLst/>
          </a:prstGeom>
          <a:solidFill>
            <a:srgbClr val="112318"/>
          </a:solidFill>
          <a:ln w="635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13"/>
          <p:cNvSpPr/>
          <p:nvPr/>
        </p:nvSpPr>
        <p:spPr>
          <a:xfrm>
            <a:off x="228600" y="3657600"/>
            <a:ext cx="63720" cy="438480"/>
          </a:xfrm>
          <a:prstGeom prst="rect">
            <a:avLst/>
          </a:prstGeom>
          <a:solidFill>
            <a:srgbClr val="ff5c5c"/>
          </a:solidFill>
          <a:ln w="12700">
            <a:solidFill>
              <a:srgbClr val="ff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3" descr="preencoded.png"/>
          <p:cNvPicPr/>
          <p:nvPr/>
        </p:nvPicPr>
        <p:blipFill>
          <a:blip r:embed="rId4"/>
          <a:stretch/>
        </p:blipFill>
        <p:spPr>
          <a:xfrm>
            <a:off x="365760" y="36943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14"/>
          <p:cNvSpPr/>
          <p:nvPr/>
        </p:nvSpPr>
        <p:spPr>
          <a:xfrm>
            <a:off x="777240" y="3675960"/>
            <a:ext cx="8046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CO₂ : R²=0.548 test · 0.444 CV · Modèle Énergie : R²=0.666 test · 0.588 CV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15"/>
          <p:cNvSpPr/>
          <p:nvPr/>
        </p:nvSpPr>
        <p:spPr>
          <a:xfrm>
            <a:off x="228600" y="4151520"/>
            <a:ext cx="8686440" cy="438480"/>
          </a:xfrm>
          <a:prstGeom prst="rect">
            <a:avLst/>
          </a:prstGeom>
          <a:solidFill>
            <a:srgbClr val="112318"/>
          </a:solidFill>
          <a:ln w="635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6"/>
          <p:cNvSpPr/>
          <p:nvPr/>
        </p:nvSpPr>
        <p:spPr>
          <a:xfrm>
            <a:off x="228600" y="4151520"/>
            <a:ext cx="63720" cy="438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Image 4" descr="preencoded.png"/>
          <p:cNvPicPr/>
          <p:nvPr/>
        </p:nvPicPr>
        <p:blipFill>
          <a:blip r:embed="rId5"/>
          <a:stretch/>
        </p:blipFill>
        <p:spPr>
          <a:xfrm>
            <a:off x="365760" y="4187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17"/>
          <p:cNvSpPr/>
          <p:nvPr/>
        </p:nvSpPr>
        <p:spPr>
          <a:xfrm>
            <a:off x="777240" y="4169520"/>
            <a:ext cx="8046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claire : Seattle → PoC Lomé → SaaS à impact pour l'Afrique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8"/>
          <p:cNvSpPr/>
          <p:nvPr/>
        </p:nvSpPr>
        <p:spPr>
          <a:xfrm>
            <a:off x="0" y="4892040"/>
            <a:ext cx="9143640" cy="2512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19"/>
          <p:cNvSpPr/>
          <p:nvPr/>
        </p:nvSpPr>
        <p:spPr>
          <a:xfrm>
            <a:off x="0" y="4892040"/>
            <a:ext cx="91436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80f0a"/>
                </a:solidFill>
                <a:effectLst/>
                <a:uFillTx/>
                <a:latin typeface="Calibri"/>
                <a:ea typeface="Calibri"/>
              </a:rPr>
              <a:t>EnergiSight Lomé · Programme D-CLIC · OIF · attoessimanase@gmail.com · (+228) 97456483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random/>
      </p:transition>
    </mc:Choice>
    <mc:Fallback>
      <p:transition spd="slow">
        <p:random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>
        <p:random/>
      </p:transition>
    </mc:Choice>
    <mc:Fallback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LibreOffice/25.8.4.2$Windows_X86_64 LibreOffice_project/290daaa01b999472f0c7a3890eb6a550fd74c6df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2026-02-19T22:52:44Z</dcterms:created>
  <dc:creator>PptxGenJS</dc:creator>
  <dc:description/>
  <dc:language>fr-FR</dc:language>
  <cp:lastModifiedBy/>
  <dcterms:modified xsi:type="dcterms:W3CDTF">2026-02-20T11:05:48Z</dcterms:modified>
  <cp:revision>2</cp:revision>
  <dc:subject>PptxGenJS Presentation</dc:subject>
  <dc:title>EnergiSight — GreenSight Lomé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On-screen Show (16:9)</vt:lpwstr>
  </property>
  <property fmtid="{D5CDD505-2E9C-101B-9397-08002B2CF9AE}" pid="4" name="Slides">
    <vt:i4>13</vt:i4>
  </property>
</Properties>
</file>